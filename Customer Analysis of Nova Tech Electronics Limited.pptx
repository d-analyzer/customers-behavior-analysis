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7315200" cy="5486400" type="B5JIS"/>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5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D047E7-E324-4FA7-9A4F-4194F815EE17}" type="datetimeFigureOut">
              <a:rPr lang="en-US" smtClean="0"/>
              <a:t>10/10/2026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4CF7F-2353-41E9-B1EC-7C0EB8139384}" type="slidenum">
              <a:rPr lang="en-US" smtClean="0"/>
              <a:t>‹#›</a:t>
            </a:fld>
            <a:endParaRPr lang="en-US"/>
          </a:p>
        </p:txBody>
      </p:sp>
    </p:spTree>
    <p:extLst>
      <p:ext uri="{BB962C8B-B14F-4D97-AF65-F5344CB8AC3E}">
        <p14:creationId xmlns:p14="http://schemas.microsoft.com/office/powerpoint/2010/main" val="1442020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B4CF7F-2353-41E9-B1EC-7C0EB8139384}" type="slidenum">
              <a:rPr lang="en-US" smtClean="0"/>
              <a:t>1</a:t>
            </a:fld>
            <a:endParaRPr lang="en-US"/>
          </a:p>
        </p:txBody>
      </p:sp>
    </p:spTree>
    <p:extLst>
      <p:ext uri="{BB962C8B-B14F-4D97-AF65-F5344CB8AC3E}">
        <p14:creationId xmlns:p14="http://schemas.microsoft.com/office/powerpoint/2010/main" val="223122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B4CF7F-2353-41E9-B1EC-7C0EB8139384}" type="slidenum">
              <a:rPr lang="en-US" smtClean="0"/>
              <a:t>2</a:t>
            </a:fld>
            <a:endParaRPr lang="en-US"/>
          </a:p>
        </p:txBody>
      </p:sp>
    </p:spTree>
    <p:extLst>
      <p:ext uri="{BB962C8B-B14F-4D97-AF65-F5344CB8AC3E}">
        <p14:creationId xmlns:p14="http://schemas.microsoft.com/office/powerpoint/2010/main" val="4022043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 </a:t>
            </a:r>
            <a:r>
              <a:rPr lang="en-US" b="0" dirty="0"/>
              <a:t>There are more female customers than male but only small difference.</a:t>
            </a: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3</a:t>
            </a:fld>
            <a:endParaRPr lang="en-US"/>
          </a:p>
        </p:txBody>
      </p:sp>
    </p:spTree>
    <p:extLst>
      <p:ext uri="{BB962C8B-B14F-4D97-AF65-F5344CB8AC3E}">
        <p14:creationId xmlns:p14="http://schemas.microsoft.com/office/powerpoint/2010/main" val="3971337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a:t>
            </a:r>
            <a:r>
              <a:rPr lang="en-US" b="0" dirty="0"/>
              <a:t>More customers were not satisfied with products than those satisfied.</a:t>
            </a: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4</a:t>
            </a:fld>
            <a:endParaRPr lang="en-US"/>
          </a:p>
        </p:txBody>
      </p:sp>
    </p:spTree>
    <p:extLst>
      <p:ext uri="{BB962C8B-B14F-4D97-AF65-F5344CB8AC3E}">
        <p14:creationId xmlns:p14="http://schemas.microsoft.com/office/powerpoint/2010/main" val="3557041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a:t>
            </a:r>
            <a:r>
              <a:rPr lang="en-US" b="0" dirty="0"/>
              <a:t>Products of LOW importance was purchased more by customers.</a:t>
            </a:r>
          </a:p>
          <a:p>
            <a:pPr algn="ctr"/>
            <a:r>
              <a:rPr lang="en-US" b="1" dirty="0"/>
              <a:t>. </a:t>
            </a:r>
            <a:r>
              <a:rPr lang="en-US" b="0" dirty="0"/>
              <a:t>Products of HIGH importance has the lowest purchase rate with a very significant difference compared to products of LOW and MEDIUM importance.</a:t>
            </a: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5</a:t>
            </a:fld>
            <a:endParaRPr lang="en-US"/>
          </a:p>
        </p:txBody>
      </p:sp>
    </p:spTree>
    <p:extLst>
      <p:ext uri="{BB962C8B-B14F-4D97-AF65-F5344CB8AC3E}">
        <p14:creationId xmlns:p14="http://schemas.microsoft.com/office/powerpoint/2010/main" val="2377541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a:t>
            </a:r>
            <a:r>
              <a:rPr lang="en-US" b="0" dirty="0"/>
              <a:t>More products were shipped through SHIP compared to others.</a:t>
            </a:r>
          </a:p>
          <a:p>
            <a:pPr algn="ctr"/>
            <a:r>
              <a:rPr lang="en-US" b="1" dirty="0"/>
              <a:t>. </a:t>
            </a:r>
            <a:r>
              <a:rPr lang="en-US" b="0" dirty="0"/>
              <a:t>The two other mode of shipment (FLIGHT &amp; ROAD) were equally used.</a:t>
            </a: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6</a:t>
            </a:fld>
            <a:endParaRPr lang="en-US"/>
          </a:p>
        </p:txBody>
      </p:sp>
    </p:spTree>
    <p:extLst>
      <p:ext uri="{BB962C8B-B14F-4D97-AF65-F5344CB8AC3E}">
        <p14:creationId xmlns:p14="http://schemas.microsoft.com/office/powerpoint/2010/main" val="349505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a:t>
            </a:r>
            <a:r>
              <a:rPr lang="en-US" b="0" dirty="0"/>
              <a:t>The shipment promptness is poor as more products were not delivered on time compared to those delivered on time.</a:t>
            </a: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7</a:t>
            </a:fld>
            <a:endParaRPr lang="en-US"/>
          </a:p>
        </p:txBody>
      </p:sp>
    </p:spTree>
    <p:extLst>
      <p:ext uri="{BB962C8B-B14F-4D97-AF65-F5344CB8AC3E}">
        <p14:creationId xmlns:p14="http://schemas.microsoft.com/office/powerpoint/2010/main" val="1300375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t>. </a:t>
            </a:r>
            <a:r>
              <a:rPr lang="en-US" b="0" dirty="0"/>
              <a:t>Block E was the warehouse Block used the Most.</a:t>
            </a:r>
          </a:p>
          <a:p>
            <a:pPr algn="ctr"/>
            <a:r>
              <a:rPr lang="en-US" b="1" dirty="0"/>
              <a:t>. </a:t>
            </a:r>
            <a:r>
              <a:rPr lang="en-US" b="0" dirty="0"/>
              <a:t>Other blocks were equally utilized.</a:t>
            </a:r>
          </a:p>
          <a:p>
            <a:pPr algn="ctr"/>
            <a:endParaRPr lang="en-US" b="1" dirty="0"/>
          </a:p>
        </p:txBody>
      </p:sp>
      <p:sp>
        <p:nvSpPr>
          <p:cNvPr id="4" name="Slide Number Placeholder 3"/>
          <p:cNvSpPr>
            <a:spLocks noGrp="1"/>
          </p:cNvSpPr>
          <p:nvPr>
            <p:ph type="sldNum" sz="quarter" idx="5"/>
          </p:nvPr>
        </p:nvSpPr>
        <p:spPr/>
        <p:txBody>
          <a:bodyPr/>
          <a:lstStyle/>
          <a:p>
            <a:fld id="{17B4CF7F-2353-41E9-B1EC-7C0EB8139384}" type="slidenum">
              <a:rPr lang="en-US" smtClean="0"/>
              <a:t>8</a:t>
            </a:fld>
            <a:endParaRPr lang="en-US"/>
          </a:p>
        </p:txBody>
      </p:sp>
    </p:spTree>
    <p:extLst>
      <p:ext uri="{BB962C8B-B14F-4D97-AF65-F5344CB8AC3E}">
        <p14:creationId xmlns:p14="http://schemas.microsoft.com/office/powerpoint/2010/main" val="2788964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dirty="0"/>
              <a:t> </a:t>
            </a:r>
            <a:r>
              <a:rPr lang="en-US" b="1" dirty="0"/>
              <a:t>.</a:t>
            </a:r>
            <a:r>
              <a:rPr lang="en-US" dirty="0"/>
              <a:t> Every Customers made use of the customer care call line which shows that it is important that the customer care should be active always so that customers can make enquiries or complaints about products.</a:t>
            </a:r>
          </a:p>
        </p:txBody>
      </p:sp>
      <p:sp>
        <p:nvSpPr>
          <p:cNvPr id="4" name="Slide Number Placeholder 3"/>
          <p:cNvSpPr>
            <a:spLocks noGrp="1"/>
          </p:cNvSpPr>
          <p:nvPr>
            <p:ph type="sldNum" sz="quarter" idx="5"/>
          </p:nvPr>
        </p:nvSpPr>
        <p:spPr/>
        <p:txBody>
          <a:bodyPr/>
          <a:lstStyle/>
          <a:p>
            <a:fld id="{17B4CF7F-2353-41E9-B1EC-7C0EB8139384}" type="slidenum">
              <a:rPr lang="en-US" smtClean="0"/>
              <a:t>9</a:t>
            </a:fld>
            <a:endParaRPr lang="en-US"/>
          </a:p>
        </p:txBody>
      </p:sp>
    </p:spTree>
    <p:extLst>
      <p:ext uri="{BB962C8B-B14F-4D97-AF65-F5344CB8AC3E}">
        <p14:creationId xmlns:p14="http://schemas.microsoft.com/office/powerpoint/2010/main" val="2710580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gn="ctr"/>
            <a:r>
              <a:rPr lang="en-US" b="1" dirty="0">
                <a:solidFill>
                  <a:srgbClr val="000000"/>
                </a:solidFill>
                <a:latin typeface="Arial Black" panose="020B0A04020102020204" pitchFamily="34" charset="0"/>
              </a:rPr>
              <a:t>.</a:t>
            </a:r>
            <a:r>
              <a:rPr lang="en-US" dirty="0">
                <a:solidFill>
                  <a:srgbClr val="000000"/>
                </a:solidFill>
                <a:latin typeface="Arial Black" panose="020B0A04020102020204" pitchFamily="34" charset="0"/>
              </a:rPr>
              <a:t> The total cost of product bought by customers is 2.31 millions in USD excluding discounts.</a:t>
            </a:r>
            <a:endParaRPr lang="en-US" dirty="0"/>
          </a:p>
        </p:txBody>
      </p:sp>
      <p:sp>
        <p:nvSpPr>
          <p:cNvPr id="4" name="Slide Number Placeholder 3"/>
          <p:cNvSpPr>
            <a:spLocks noGrp="1"/>
          </p:cNvSpPr>
          <p:nvPr>
            <p:ph type="sldNum" sz="quarter" idx="5"/>
          </p:nvPr>
        </p:nvSpPr>
        <p:spPr/>
        <p:txBody>
          <a:bodyPr/>
          <a:lstStyle/>
          <a:p>
            <a:fld id="{17B4CF7F-2353-41E9-B1EC-7C0EB8139384}" type="slidenum">
              <a:rPr lang="en-US" smtClean="0"/>
              <a:t>10</a:t>
            </a:fld>
            <a:endParaRPr lang="en-US"/>
          </a:p>
        </p:txBody>
      </p:sp>
    </p:spTree>
    <p:extLst>
      <p:ext uri="{BB962C8B-B14F-4D97-AF65-F5344CB8AC3E}">
        <p14:creationId xmlns:p14="http://schemas.microsoft.com/office/powerpoint/2010/main" val="1399774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B4CF7F-2353-41E9-B1EC-7C0EB8139384}" type="slidenum">
              <a:rPr lang="en-US" smtClean="0"/>
              <a:t>11</a:t>
            </a:fld>
            <a:endParaRPr lang="en-US"/>
          </a:p>
        </p:txBody>
      </p:sp>
    </p:spTree>
    <p:extLst>
      <p:ext uri="{BB962C8B-B14F-4D97-AF65-F5344CB8AC3E}">
        <p14:creationId xmlns:p14="http://schemas.microsoft.com/office/powerpoint/2010/main" val="2610253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4114801" y="771261"/>
            <a:ext cx="2792578" cy="2991917"/>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114800" y="3858275"/>
            <a:ext cx="2523744" cy="1104595"/>
          </a:xfrm>
        </p:spPr>
        <p:txBody>
          <a:bodyPr anchor="t" anchorCtr="0">
            <a:normAutofit/>
          </a:bodyPr>
          <a:lstStyle>
            <a:lvl1pPr marL="0" indent="0" algn="l">
              <a:buNone/>
              <a:defRPr sz="960">
                <a:solidFill>
                  <a:schemeClr val="tx1"/>
                </a:solidFill>
              </a:defRPr>
            </a:lvl1pPr>
            <a:lvl2pPr marL="219456" indent="0" algn="ctr">
              <a:buNone/>
              <a:defRPr sz="960"/>
            </a:lvl2pPr>
            <a:lvl3pPr marL="438912" indent="0" algn="ctr">
              <a:buNone/>
              <a:defRPr sz="864"/>
            </a:lvl3pPr>
            <a:lvl4pPr marL="658368" indent="0" algn="ctr">
              <a:buNone/>
              <a:defRPr sz="768"/>
            </a:lvl4pPr>
            <a:lvl5pPr marL="877824" indent="0" algn="ctr">
              <a:buNone/>
              <a:defRPr sz="768"/>
            </a:lvl5pPr>
            <a:lvl6pPr marL="1097280" indent="0" algn="ctr">
              <a:buNone/>
              <a:defRPr sz="768"/>
            </a:lvl6pPr>
            <a:lvl7pPr marL="1316736" indent="0" algn="ctr">
              <a:buNone/>
              <a:defRPr sz="768"/>
            </a:lvl7pPr>
            <a:lvl8pPr marL="1536192" indent="0" algn="ctr">
              <a:buNone/>
              <a:defRPr sz="768"/>
            </a:lvl8pPr>
            <a:lvl9pPr marL="1755648" indent="0" algn="ctr">
              <a:buNone/>
              <a:defRPr sz="768"/>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04749" y="771261"/>
            <a:ext cx="3241968" cy="420714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5984920" y="3786189"/>
            <a:ext cx="2165352" cy="219075"/>
          </a:xfrm>
        </p:spPr>
        <p:txBody>
          <a:bodyPr/>
          <a:lstStyle/>
          <a:p>
            <a:fld id="{AEE8197D-0DFD-45AD-BDE6-4E1618438D16}" type="datetimeFigureOut">
              <a:rPr lang="en-US" smtClean="0"/>
              <a:t>10/10/2026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2784610414"/>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438912" y="292608"/>
            <a:ext cx="6444691" cy="905806"/>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8912" y="1326943"/>
            <a:ext cx="6468466" cy="3940000"/>
          </a:xfrm>
        </p:spPr>
        <p:txBody>
          <a:bodyPr>
            <a:normAutofit/>
          </a:bodyPr>
          <a:lstStyle>
            <a:lvl1pPr>
              <a:defRPr sz="864">
                <a:solidFill>
                  <a:schemeClr val="tx1"/>
                </a:solidFill>
              </a:defRPr>
            </a:lvl1pPr>
            <a:lvl2pPr>
              <a:defRPr sz="768">
                <a:solidFill>
                  <a:schemeClr val="tx1"/>
                </a:solidFill>
              </a:defRPr>
            </a:lvl2pPr>
            <a:lvl3pPr>
              <a:defRPr sz="672">
                <a:solidFill>
                  <a:schemeClr val="tx1"/>
                </a:solidFill>
              </a:defRPr>
            </a:lvl3pPr>
            <a:lvl4pPr>
              <a:defRPr sz="576">
                <a:solidFill>
                  <a:schemeClr val="tx1"/>
                </a:solidFill>
              </a:defRPr>
            </a:lvl4pPr>
            <a:lvl5pPr>
              <a:defRPr sz="576">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1264967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74427"/>
            <a:ext cx="6583680" cy="629107"/>
          </a:xfrm>
        </p:spPr>
        <p:txBody>
          <a:bodyPr anchor="b">
            <a:normAutofit/>
          </a:bodyPr>
          <a:lstStyle>
            <a:lvl1pPr algn="ctr">
              <a:defRPr sz="2112">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78106"/>
            <a:ext cx="6583680" cy="384298"/>
          </a:xfrm>
        </p:spPr>
        <p:txBody>
          <a:bodyPr anchor="t">
            <a:normAutofit/>
          </a:bodyPr>
          <a:lstStyle>
            <a:lvl1pPr marL="0" indent="0" algn="ctr">
              <a:buNone/>
              <a:defRPr sz="960">
                <a:solidFill>
                  <a:schemeClr val="tx1"/>
                </a:solidFill>
              </a:defRPr>
            </a:lvl1pPr>
            <a:lvl2pPr marL="219456" indent="0" algn="ctr">
              <a:buNone/>
              <a:defRPr sz="960"/>
            </a:lvl2pPr>
            <a:lvl3pPr marL="438912" indent="0" algn="ctr">
              <a:buNone/>
              <a:defRPr sz="864"/>
            </a:lvl3pPr>
            <a:lvl4pPr marL="658368" indent="0" algn="ctr">
              <a:buNone/>
              <a:defRPr sz="768"/>
            </a:lvl4pPr>
            <a:lvl5pPr marL="877824" indent="0" algn="ctr">
              <a:buNone/>
              <a:defRPr sz="768"/>
            </a:lvl5pPr>
            <a:lvl6pPr marL="1097280" indent="0" algn="ctr">
              <a:buNone/>
              <a:defRPr sz="768"/>
            </a:lvl6pPr>
            <a:lvl7pPr marL="1316736" indent="0" algn="ctr">
              <a:buNone/>
              <a:defRPr sz="768"/>
            </a:lvl7pPr>
            <a:lvl8pPr marL="1536192" indent="0" algn="ctr">
              <a:buNone/>
              <a:defRPr sz="768"/>
            </a:lvl8pPr>
            <a:lvl9pPr marL="1755648" indent="0" algn="ctr">
              <a:buNone/>
              <a:defRPr sz="768"/>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3" y="3"/>
            <a:ext cx="7315199" cy="398914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88016" y="4666267"/>
            <a:ext cx="1202755" cy="21907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AEE8197D-0DFD-45AD-BDE6-4E1618438D16}" type="datetimeFigureOut">
              <a:rPr lang="en-US" smtClean="0"/>
              <a:t>10/10/2026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3991952"/>
            <a:ext cx="7315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393321864"/>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502923" y="2062890"/>
            <a:ext cx="4727601" cy="2874103"/>
          </a:xfrm>
        </p:spPr>
        <p:txBody>
          <a:bodyPr>
            <a:normAutofit/>
          </a:bodyPr>
          <a:lstStyle>
            <a:lvl1pPr>
              <a:defRPr sz="288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371600"/>
            <a:ext cx="7315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2392680" y="294641"/>
            <a:ext cx="4425315" cy="811530"/>
          </a:xfrm>
        </p:spPr>
        <p:txBody>
          <a:bodyPr anchor="ctr">
            <a:normAutofit/>
          </a:bodyPr>
          <a:lstStyle>
            <a:lvl1pPr algn="r">
              <a:defRPr sz="96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2668633470"/>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502920" y="687632"/>
            <a:ext cx="5727802" cy="2940708"/>
          </a:xfrm>
        </p:spPr>
        <p:txBody>
          <a:bodyPr anchor="t">
            <a:normAutofit/>
          </a:bodyPr>
          <a:lstStyle>
            <a:lvl1pPr>
              <a:defRPr sz="288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4114800"/>
            <a:ext cx="7315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9463737"/>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771569" y="1036869"/>
            <a:ext cx="2611995" cy="3412668"/>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1536">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921034" y="1036869"/>
            <a:ext cx="2595067" cy="3412668"/>
          </a:xfrm>
        </p:spPr>
        <p:txBody>
          <a:bodyPr anchor="b" anchorCtr="0"/>
          <a:lstStyle>
            <a:lvl1pPr marL="0" indent="0">
              <a:buNone/>
              <a:defRPr>
                <a:solidFill>
                  <a:schemeClr val="tx1"/>
                </a:solidFill>
              </a:defRPr>
            </a:lvl1pPr>
            <a:lvl2pPr marL="109728" indent="0">
              <a:buNone/>
              <a:defRPr>
                <a:solidFill>
                  <a:schemeClr val="tx1"/>
                </a:solidFill>
              </a:defRPr>
            </a:lvl2pPr>
            <a:lvl3pPr marL="219456" indent="0">
              <a:buNone/>
              <a:defRPr>
                <a:solidFill>
                  <a:schemeClr val="tx1"/>
                </a:solidFill>
              </a:defRPr>
            </a:lvl3pPr>
            <a:lvl4pPr marL="329184" indent="0">
              <a:buNone/>
              <a:defRPr>
                <a:solidFill>
                  <a:schemeClr val="tx1"/>
                </a:solidFill>
              </a:defRPr>
            </a:lvl4pPr>
            <a:lvl5pPr marL="438912"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78755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636423" y="3686862"/>
            <a:ext cx="2501798" cy="1287475"/>
          </a:xfrm>
        </p:spPr>
        <p:txBody>
          <a:bodyPr anchor="t" anchorCtr="0">
            <a:noAutofit/>
          </a:bodyPr>
          <a:lstStyle>
            <a:lvl1pPr algn="ctr">
              <a:defRPr sz="2112">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754383" y="877824"/>
            <a:ext cx="2265882" cy="253448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1536">
                <a:solidFill>
                  <a:schemeClr val="tx1"/>
                </a:solidFill>
              </a:defRPr>
            </a:lvl1pPr>
            <a:lvl2pPr marL="219456" indent="0">
              <a:buNone/>
              <a:defRPr sz="1344"/>
            </a:lvl2pPr>
            <a:lvl3pPr marL="438912" indent="0">
              <a:buNone/>
              <a:defRPr sz="1152"/>
            </a:lvl3pPr>
            <a:lvl4pPr marL="658368" indent="0">
              <a:buNone/>
              <a:defRPr sz="960"/>
            </a:lvl4pPr>
            <a:lvl5pPr marL="877824" indent="0">
              <a:buNone/>
              <a:defRPr sz="960"/>
            </a:lvl5pPr>
            <a:lvl6pPr marL="1097280" indent="0">
              <a:buNone/>
              <a:defRPr sz="960"/>
            </a:lvl6pPr>
            <a:lvl7pPr marL="1316736" indent="0">
              <a:buNone/>
              <a:defRPr sz="960"/>
            </a:lvl7pPr>
            <a:lvl8pPr marL="1536192" indent="0">
              <a:buNone/>
              <a:defRPr sz="960"/>
            </a:lvl8pPr>
            <a:lvl9pPr marL="1755648" indent="0">
              <a:buNone/>
              <a:defRPr sz="96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4284879" y="672998"/>
            <a:ext cx="2529230" cy="426476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3778252"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866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1830" y="2092148"/>
            <a:ext cx="2287829" cy="2845613"/>
          </a:xfrm>
        </p:spPr>
        <p:txBody>
          <a:bodyPr>
            <a:normAutofit/>
          </a:bodyPr>
          <a:lstStyle>
            <a:lvl1pPr>
              <a:defRPr sz="1536">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3311845" y="672998"/>
            <a:ext cx="2973705" cy="2844800"/>
          </a:xfrm>
        </p:spPr>
        <p:txBody>
          <a:bodyPr/>
          <a:lstStyle>
            <a:lvl1pPr>
              <a:defRPr>
                <a:solidFill>
                  <a:schemeClr val="tx1"/>
                </a:solidFill>
              </a:defRPr>
            </a:lvl1pPr>
            <a:lvl2pPr>
              <a:defRPr sz="672">
                <a:solidFill>
                  <a:schemeClr val="tx1"/>
                </a:solidFill>
              </a:defRPr>
            </a:lvl2pPr>
            <a:lvl3pPr>
              <a:defRPr sz="672">
                <a:solidFill>
                  <a:schemeClr val="tx1"/>
                </a:solidFill>
              </a:defRPr>
            </a:lvl3pPr>
            <a:lvl4pPr>
              <a:defRPr sz="672">
                <a:solidFill>
                  <a:schemeClr val="tx1"/>
                </a:solidFill>
              </a:defRPr>
            </a:lvl4pPr>
            <a:lvl5pPr>
              <a:defRPr sz="672">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3009722"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5199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8912" y="672999"/>
            <a:ext cx="1799539" cy="4147718"/>
          </a:xfrm>
        </p:spPr>
        <p:txBody>
          <a:bodyPr anchor="t" anchorCtr="0">
            <a:normAutofit/>
          </a:bodyPr>
          <a:lstStyle>
            <a:lvl1pPr>
              <a:defRPr sz="1536">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2800155" y="672999"/>
            <a:ext cx="3756093" cy="4147718"/>
          </a:xfrm>
        </p:spPr>
        <p:txBody>
          <a:bodyPr/>
          <a:lstStyle>
            <a:lvl1pPr>
              <a:defRPr>
                <a:solidFill>
                  <a:schemeClr val="tx1"/>
                </a:solidFill>
              </a:defRPr>
            </a:lvl1pPr>
            <a:lvl2pPr>
              <a:defRPr sz="672">
                <a:solidFill>
                  <a:schemeClr val="tx1"/>
                </a:solidFill>
              </a:defRPr>
            </a:lvl2pPr>
            <a:lvl3pPr>
              <a:defRPr sz="672">
                <a:solidFill>
                  <a:schemeClr val="tx1"/>
                </a:solidFill>
              </a:defRPr>
            </a:lvl3pPr>
            <a:lvl4pPr>
              <a:defRPr sz="672">
                <a:solidFill>
                  <a:schemeClr val="tx1"/>
                </a:solidFill>
              </a:defRPr>
            </a:lvl4pPr>
            <a:lvl5pPr>
              <a:defRPr sz="672">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2509326"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861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98693" y="792412"/>
            <a:ext cx="1539356" cy="1487153"/>
          </a:xfrm>
        </p:spPr>
        <p:txBody>
          <a:bodyPr anchor="b"/>
          <a:lstStyle>
            <a:lvl1pPr>
              <a:defRPr lang="en-US" sz="1536"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 y="0"/>
            <a:ext cx="4995794" cy="54864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299365" y="2409068"/>
            <a:ext cx="1535986" cy="2125000"/>
          </a:xfrm>
        </p:spPr>
        <p:txBody>
          <a:bodyPr vert="horz" lIns="91440" tIns="45720" rIns="91440" bIns="45720" rtlCol="0">
            <a:normAutofit/>
          </a:bodyPr>
          <a:lstStyle>
            <a:lvl1pPr marL="0" indent="0">
              <a:buNone/>
              <a:defRPr lang="en-US" dirty="0"/>
            </a:lvl1pPr>
            <a:lvl2pPr marL="109728" indent="0">
              <a:buNone/>
              <a:defRPr lang="en-US" sz="672" dirty="0"/>
            </a:lvl2pPr>
            <a:lvl3pPr marL="219456" indent="0">
              <a:buNone/>
              <a:defRPr lang="en-US" sz="672" dirty="0"/>
            </a:lvl3pPr>
            <a:lvl4pPr marL="329184" indent="0">
              <a:buNone/>
              <a:defRPr lang="en-US" sz="672" dirty="0"/>
            </a:lvl4pPr>
            <a:lvl5pPr marL="438912" indent="0">
              <a:buNone/>
              <a:defRPr lang="en-US" sz="672"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5878186" y="1310879"/>
            <a:ext cx="2378818" cy="21907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5984920" y="3786189"/>
            <a:ext cx="2165352" cy="219075"/>
          </a:xfrm>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6907380" y="5085083"/>
            <a:ext cx="344772" cy="292100"/>
          </a:xfrm>
        </p:spPr>
        <p:txBody>
          <a:bodyPr/>
          <a:lstStyle>
            <a:lvl1pPr>
              <a:defRPr>
                <a:solidFill>
                  <a:schemeClr val="tx1"/>
                </a:solidFill>
              </a:defRPr>
            </a:lvl1pPr>
          </a:lstStyle>
          <a:p>
            <a:fld id="{5CC4DF06-26E8-4E3D-948A-2D2139048BC6}"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4992342"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8487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82114" y="438912"/>
            <a:ext cx="3655935" cy="914400"/>
          </a:xfrm>
        </p:spPr>
        <p:txBody>
          <a:bodyPr anchor="b">
            <a:noAutofit/>
          </a:bodyPr>
          <a:lstStyle>
            <a:lvl1pPr>
              <a:defRPr sz="1536">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2876331" cy="54864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82112" y="1463041"/>
            <a:ext cx="3642970" cy="359176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2878293"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5984920" y="3786189"/>
            <a:ext cx="2165352" cy="219075"/>
          </a:xfrm>
        </p:spPr>
        <p:txBody>
          <a:bodyPr/>
          <a:lstStyle/>
          <a:p>
            <a:fld id="{AEE8197D-0DFD-45AD-BDE6-4E1618438D16}" type="datetimeFigureOut">
              <a:rPr lang="en-US" smtClean="0"/>
              <a:t>10/10/2026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5878187" y="1310879"/>
            <a:ext cx="2378818" cy="21907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928772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438912"/>
            <a:ext cx="3681374" cy="914400"/>
          </a:xfrm>
        </p:spPr>
        <p:txBody>
          <a:bodyPr anchor="b">
            <a:noAutofit/>
          </a:bodyPr>
          <a:lstStyle>
            <a:lvl1pPr>
              <a:defRPr sz="1536">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38912" y="1463041"/>
            <a:ext cx="3681374" cy="359176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40326" y="0"/>
            <a:ext cx="2874874" cy="54864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4429214"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869316" y="3786189"/>
            <a:ext cx="2165352" cy="219075"/>
          </a:xfrm>
        </p:spPr>
        <p:txBody>
          <a:bodyPr/>
          <a:lstStyle/>
          <a:p>
            <a:fld id="{AEE8197D-0DFD-45AD-BDE6-4E1618438D16}" type="datetimeFigureOut">
              <a:rPr lang="en-US" smtClean="0"/>
              <a:t>10/10/2026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976049" y="1310879"/>
            <a:ext cx="2378818" cy="21907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30672" y="5085083"/>
            <a:ext cx="344772" cy="292100"/>
          </a:xfrm>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399637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256032"/>
            <a:ext cx="4114800" cy="746150"/>
          </a:xfrm>
        </p:spPr>
        <p:txBody>
          <a:bodyPr anchor="b">
            <a:noAutofit/>
          </a:bodyPr>
          <a:lstStyle>
            <a:lvl1pPr>
              <a:defRPr sz="1536">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38912" y="1104595"/>
            <a:ext cx="4114800" cy="398678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55040" y="0"/>
            <a:ext cx="2460160" cy="54864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4846657"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869316" y="3786189"/>
            <a:ext cx="2165352" cy="219075"/>
          </a:xfrm>
        </p:spPr>
        <p:txBody>
          <a:bodyPr/>
          <a:lstStyle/>
          <a:p>
            <a:fld id="{AEE8197D-0DFD-45AD-BDE6-4E1618438D16}" type="datetimeFigureOut">
              <a:rPr lang="en-US" smtClean="0"/>
              <a:t>10/10/2026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976049" y="1310879"/>
            <a:ext cx="2378818" cy="21907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30672" y="5085083"/>
            <a:ext cx="344772" cy="292100"/>
          </a:xfrm>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1925818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466734"/>
            <a:ext cx="2617013" cy="1010111"/>
          </a:xfrm>
        </p:spPr>
        <p:txBody>
          <a:bodyPr anchor="b">
            <a:noAutofit/>
          </a:bodyPr>
          <a:lstStyle>
            <a:lvl1pPr>
              <a:defRPr sz="1536">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38915" y="1583570"/>
            <a:ext cx="2616518" cy="34634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3447288" y="0"/>
            <a:ext cx="3867912" cy="54864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3439276"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869316" y="3786189"/>
            <a:ext cx="2165352" cy="219075"/>
          </a:xfrm>
        </p:spPr>
        <p:txBody>
          <a:bodyPr/>
          <a:lstStyle/>
          <a:p>
            <a:fld id="{AEE8197D-0DFD-45AD-BDE6-4E1618438D16}" type="datetimeFigureOut">
              <a:rPr lang="en-US" smtClean="0"/>
              <a:t>10/10/2026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976049" y="1310879"/>
            <a:ext cx="2378818" cy="21907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30672" y="5085083"/>
            <a:ext cx="344772" cy="292100"/>
          </a:xfrm>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488813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256032"/>
            <a:ext cx="2743200" cy="746150"/>
          </a:xfrm>
        </p:spPr>
        <p:txBody>
          <a:bodyPr anchor="b"/>
          <a:lstStyle>
            <a:lvl1pPr>
              <a:defRPr sz="1536">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38912" y="1104595"/>
            <a:ext cx="2743200" cy="398678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3550635" y="0"/>
            <a:ext cx="3764567" cy="54864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3547034"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869316" y="3786189"/>
            <a:ext cx="2165352" cy="219075"/>
          </a:xfrm>
        </p:spPr>
        <p:txBody>
          <a:bodyPr/>
          <a:lstStyle/>
          <a:p>
            <a:fld id="{AEE8197D-0DFD-45AD-BDE6-4E1618438D16}" type="datetimeFigureOut">
              <a:rPr lang="en-US" smtClean="0"/>
              <a:t>10/10/2026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976049" y="1310879"/>
            <a:ext cx="2378818" cy="21907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30672" y="5085083"/>
            <a:ext cx="344772" cy="292100"/>
          </a:xfrm>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3323477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4009814"/>
            <a:ext cx="2243938" cy="1112264"/>
          </a:xfrm>
        </p:spPr>
        <p:txBody>
          <a:bodyPr anchor="t">
            <a:normAutofit/>
          </a:bodyPr>
          <a:lstStyle>
            <a:lvl1pPr>
              <a:defRPr sz="1536">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315200" cy="3708106"/>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70321" y="4583961"/>
            <a:ext cx="1367367" cy="21907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07792" y="4009814"/>
            <a:ext cx="3840480" cy="1112264"/>
          </a:xfrm>
        </p:spPr>
        <p:txBody>
          <a:bodyPr>
            <a:noAutofit/>
          </a:bodyPr>
          <a:lstStyle>
            <a:lvl1pPr marL="0" indent="0">
              <a:buFont typeface="Arial" panose="020B0604020202020204" pitchFamily="34" charset="0"/>
              <a:buNone/>
              <a:defRPr sz="864">
                <a:solidFill>
                  <a:schemeClr val="tx1"/>
                </a:solidFill>
              </a:defRPr>
            </a:lvl1pPr>
            <a:lvl2pPr marL="109728" indent="0">
              <a:buFont typeface="Arial" panose="020B0604020202020204" pitchFamily="34" charset="0"/>
              <a:buNone/>
              <a:defRPr sz="768">
                <a:solidFill>
                  <a:schemeClr val="tx1"/>
                </a:solidFill>
              </a:defRPr>
            </a:lvl2pPr>
            <a:lvl3pPr marL="219456" indent="0">
              <a:buFont typeface="Arial" panose="020B0604020202020204" pitchFamily="34" charset="0"/>
              <a:buNone/>
              <a:defRPr sz="672">
                <a:solidFill>
                  <a:schemeClr val="tx1"/>
                </a:solidFill>
              </a:defRPr>
            </a:lvl3pPr>
            <a:lvl4pPr marL="329184" indent="0">
              <a:buFont typeface="Arial" panose="020B0604020202020204" pitchFamily="34" charset="0"/>
              <a:buNone/>
              <a:defRPr sz="576">
                <a:solidFill>
                  <a:schemeClr val="tx1"/>
                </a:solidFill>
              </a:defRPr>
            </a:lvl4pPr>
            <a:lvl5pPr marL="438912" indent="0">
              <a:buFont typeface="Arial" panose="020B0604020202020204" pitchFamily="34" charset="0"/>
              <a:buNone/>
              <a:defRPr sz="528">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6583303" y="4384573"/>
            <a:ext cx="968587" cy="219075"/>
          </a:xfrm>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2" y="3710584"/>
            <a:ext cx="7315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2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4049" y="3906318"/>
            <a:ext cx="2194562" cy="1163117"/>
          </a:xfrm>
        </p:spPr>
        <p:txBody>
          <a:bodyPr anchor="t">
            <a:normAutofit/>
          </a:bodyPr>
          <a:lstStyle>
            <a:lvl1pPr algn="ctr">
              <a:defRPr sz="1536">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438915" y="438916"/>
            <a:ext cx="2094105" cy="323331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2962657" y="439420"/>
            <a:ext cx="3936683" cy="460756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2787670"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693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0901" y="447473"/>
            <a:ext cx="6453402" cy="746150"/>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976049" y="1310879"/>
            <a:ext cx="2378818" cy="21907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869317" y="3712471"/>
            <a:ext cx="2165352" cy="219075"/>
          </a:xfrm>
        </p:spPr>
        <p:txBody>
          <a:bodyPr/>
          <a:lstStyle>
            <a:lvl1pPr algn="l">
              <a:defRPr>
                <a:solidFill>
                  <a:schemeClr val="tx1"/>
                </a:solidFill>
              </a:defRPr>
            </a:lvl1pPr>
          </a:lstStyle>
          <a:p>
            <a:fld id="{AEE8197D-0DFD-45AD-BDE6-4E1618438D16}" type="datetimeFigureOut">
              <a:rPr lang="en-US" smtClean="0"/>
              <a:t>10/10/2026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53144" y="5011364"/>
            <a:ext cx="344772" cy="292100"/>
          </a:xfrm>
        </p:spPr>
        <p:txBody>
          <a:bodyPr/>
          <a:lstStyle>
            <a:lvl1pPr>
              <a:defRPr>
                <a:solidFill>
                  <a:schemeClr val="tx1"/>
                </a:solidFill>
              </a:defRPr>
            </a:lvl1pPr>
          </a:lstStyle>
          <a:p>
            <a:fld id="{5CC4DF06-26E8-4E3D-948A-2D2139048BC6}"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6722" y="1370924"/>
            <a:ext cx="2632207" cy="3690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3395359" y="1370925"/>
            <a:ext cx="3919842" cy="4115478"/>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137160" lvl="0" indent="-137160"/>
            <a:r>
              <a:rPr lang="en-US"/>
              <a:t> </a:t>
            </a:r>
          </a:p>
        </p:txBody>
      </p:sp>
    </p:spTree>
    <p:extLst>
      <p:ext uri="{BB962C8B-B14F-4D97-AF65-F5344CB8AC3E}">
        <p14:creationId xmlns:p14="http://schemas.microsoft.com/office/powerpoint/2010/main" val="508883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1234442" y="3950209"/>
            <a:ext cx="4192522" cy="1082650"/>
          </a:xfrm>
        </p:spPr>
        <p:txBody>
          <a:bodyPr anchor="t">
            <a:normAutofit/>
          </a:bodyPr>
          <a:lstStyle>
            <a:lvl1pPr>
              <a:lnSpc>
                <a:spcPct val="110000"/>
              </a:lnSpc>
              <a:spcBef>
                <a:spcPts val="480"/>
              </a:spcBef>
              <a:defRPr sz="1344"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1234442" y="439220"/>
            <a:ext cx="5673090" cy="3467100"/>
          </a:xfrm>
        </p:spPr>
        <p:txBody>
          <a:bodyPr anchor="b">
            <a:normAutofit/>
          </a:bodyPr>
          <a:lstStyle>
            <a:lvl1pPr>
              <a:defRPr sz="11136">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822960" y="0"/>
            <a:ext cx="0" cy="5486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288506"/>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367589" y="-982501"/>
            <a:ext cx="6391656" cy="907085"/>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1574485" y="1815001"/>
            <a:ext cx="4166234" cy="3163404"/>
          </a:xfrm>
        </p:spPr>
        <p:txBody>
          <a:bodyPr anchor="ctr" anchorCtr="0">
            <a:noAutofit/>
          </a:bodyPr>
          <a:lstStyle>
            <a:lvl1pPr marL="0" indent="0" algn="ctr">
              <a:lnSpc>
                <a:spcPct val="110000"/>
              </a:lnSpc>
              <a:buNone/>
              <a:defRPr sz="2112" b="0" cap="all" baseline="0">
                <a:solidFill>
                  <a:schemeClr val="tx1"/>
                </a:solidFill>
              </a:defRPr>
            </a:lvl1pPr>
            <a:lvl2pPr marL="109728" indent="0" algn="ctr">
              <a:lnSpc>
                <a:spcPct val="110000"/>
              </a:lnSpc>
              <a:buNone/>
              <a:defRPr sz="2112" b="0" cap="all" baseline="0">
                <a:solidFill>
                  <a:schemeClr val="tx1"/>
                </a:solidFill>
              </a:defRPr>
            </a:lvl2pPr>
            <a:lvl3pPr marL="219456" indent="0" algn="ctr">
              <a:lnSpc>
                <a:spcPct val="110000"/>
              </a:lnSpc>
              <a:buNone/>
              <a:defRPr sz="2112" b="0" cap="all" baseline="0">
                <a:solidFill>
                  <a:schemeClr val="tx1"/>
                </a:solidFill>
              </a:defRPr>
            </a:lvl3pPr>
            <a:lvl4pPr marL="329184" indent="0" algn="ctr">
              <a:lnSpc>
                <a:spcPct val="110000"/>
              </a:lnSpc>
              <a:buNone/>
              <a:defRPr sz="2112" b="0" cap="all" baseline="0">
                <a:solidFill>
                  <a:schemeClr val="tx1"/>
                </a:solidFill>
              </a:defRPr>
            </a:lvl4pPr>
            <a:lvl5pPr marL="438912" indent="0" algn="ctr">
              <a:lnSpc>
                <a:spcPct val="110000"/>
              </a:lnSpc>
              <a:buNone/>
              <a:defRPr sz="2112"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1226564" y="-93232"/>
            <a:ext cx="4862072" cy="6306423"/>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64">
              <a:solidFill>
                <a:schemeClr val="tx1"/>
              </a:solidFill>
            </a:endParaRPr>
          </a:p>
        </p:txBody>
      </p:sp>
    </p:spTree>
    <p:extLst>
      <p:ext uri="{BB962C8B-B14F-4D97-AF65-F5344CB8AC3E}">
        <p14:creationId xmlns:p14="http://schemas.microsoft.com/office/powerpoint/2010/main" val="1446568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1764101" y="4535425"/>
            <a:ext cx="3786998" cy="373075"/>
          </a:xfrm>
        </p:spPr>
        <p:txBody>
          <a:bodyPr anchor="ctr">
            <a:normAutofit/>
          </a:bodyPr>
          <a:lstStyle>
            <a:lvl1pPr algn="ctr">
              <a:lnSpc>
                <a:spcPct val="110000"/>
              </a:lnSpc>
              <a:spcBef>
                <a:spcPts val="480"/>
              </a:spcBef>
              <a:defRPr sz="864"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1558282" y="1395663"/>
            <a:ext cx="4198638" cy="2806325"/>
          </a:xfrm>
        </p:spPr>
        <p:txBody>
          <a:bodyPr anchor="b">
            <a:normAutofit/>
          </a:bodyPr>
          <a:lstStyle>
            <a:lvl1pPr algn="ctr">
              <a:lnSpc>
                <a:spcPct val="100000"/>
              </a:lnSpc>
              <a:spcBef>
                <a:spcPts val="0"/>
              </a:spcBef>
              <a:defRPr sz="288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1029904" y="-294507"/>
            <a:ext cx="5255394" cy="6306423"/>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64">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2905266098"/>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8912" y="292608"/>
            <a:ext cx="6444691" cy="905806"/>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439102" y="1682753"/>
            <a:ext cx="3108960" cy="3481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3770968" y="1682499"/>
            <a:ext cx="3108960" cy="3481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950109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438912" y="292608"/>
            <a:ext cx="6444691" cy="905806"/>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38913" y="1682497"/>
            <a:ext cx="3094672" cy="447867"/>
          </a:xfrm>
        </p:spPr>
        <p:txBody>
          <a:bodyPr anchor="b">
            <a:normAutofit/>
          </a:bodyPr>
          <a:lstStyle>
            <a:lvl1pPr marL="0" indent="0">
              <a:lnSpc>
                <a:spcPct val="90000"/>
              </a:lnSpc>
              <a:buNone/>
              <a:defRPr sz="960" b="0" cap="all" baseline="0">
                <a:solidFill>
                  <a:schemeClr val="tx1"/>
                </a:solidFill>
              </a:defRPr>
            </a:lvl1pPr>
            <a:lvl2pPr marL="219456" indent="0">
              <a:buNone/>
              <a:defRPr sz="960" b="1"/>
            </a:lvl2pPr>
            <a:lvl3pPr marL="438912" indent="0">
              <a:buNone/>
              <a:defRPr sz="864" b="1"/>
            </a:lvl3pPr>
            <a:lvl4pPr marL="658368" indent="0">
              <a:buNone/>
              <a:defRPr sz="768" b="1"/>
            </a:lvl4pPr>
            <a:lvl5pPr marL="877824" indent="0">
              <a:buNone/>
              <a:defRPr sz="768" b="1"/>
            </a:lvl5pPr>
            <a:lvl6pPr marL="1097280" indent="0">
              <a:buNone/>
              <a:defRPr sz="768" b="1"/>
            </a:lvl6pPr>
            <a:lvl7pPr marL="1316736" indent="0">
              <a:buNone/>
              <a:defRPr sz="768" b="1"/>
            </a:lvl7pPr>
            <a:lvl8pPr marL="1536192" indent="0">
              <a:buNone/>
              <a:defRPr sz="768" b="1"/>
            </a:lvl8pPr>
            <a:lvl9pPr marL="1755648" indent="0">
              <a:buNone/>
              <a:defRPr sz="768"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439103" y="2194563"/>
            <a:ext cx="3094312" cy="30111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3785618" y="1682497"/>
            <a:ext cx="3109913" cy="447867"/>
          </a:xfrm>
        </p:spPr>
        <p:txBody>
          <a:bodyPr anchor="b">
            <a:normAutofit/>
          </a:bodyPr>
          <a:lstStyle>
            <a:lvl1pPr marL="0" indent="0">
              <a:lnSpc>
                <a:spcPct val="90000"/>
              </a:lnSpc>
              <a:buNone/>
              <a:defRPr sz="960" b="0" cap="all" baseline="0">
                <a:solidFill>
                  <a:schemeClr val="tx1"/>
                </a:solidFill>
              </a:defRPr>
            </a:lvl1pPr>
            <a:lvl2pPr marL="219456" indent="0">
              <a:buNone/>
              <a:defRPr sz="960" b="1"/>
            </a:lvl2pPr>
            <a:lvl3pPr marL="438912" indent="0">
              <a:buNone/>
              <a:defRPr sz="864" b="1"/>
            </a:lvl3pPr>
            <a:lvl4pPr marL="658368" indent="0">
              <a:buNone/>
              <a:defRPr sz="768" b="1"/>
            </a:lvl4pPr>
            <a:lvl5pPr marL="877824" indent="0">
              <a:buNone/>
              <a:defRPr sz="768" b="1"/>
            </a:lvl5pPr>
            <a:lvl6pPr marL="1097280" indent="0">
              <a:buNone/>
              <a:defRPr sz="768" b="1"/>
            </a:lvl6pPr>
            <a:lvl7pPr marL="1316736" indent="0">
              <a:buNone/>
              <a:defRPr sz="768" b="1"/>
            </a:lvl7pPr>
            <a:lvl8pPr marL="1536192" indent="0">
              <a:buNone/>
              <a:defRPr sz="768" b="1"/>
            </a:lvl8pPr>
            <a:lvl9pPr marL="1755648" indent="0">
              <a:buNone/>
              <a:defRPr sz="768"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3785619" y="2194563"/>
            <a:ext cx="3109913" cy="30111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5899897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438912" y="292608"/>
            <a:ext cx="6444691" cy="90580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2626117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1928773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04750" y="365761"/>
            <a:ext cx="4405384" cy="907085"/>
          </a:xfrm>
          <a:noFill/>
        </p:spPr>
        <p:txBody>
          <a:bodyPr anchor="b">
            <a:noAutofit/>
          </a:bodyPr>
          <a:lstStyle>
            <a:lvl1pPr>
              <a:defRPr sz="288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4749" y="2099462"/>
            <a:ext cx="6254496" cy="2560320"/>
          </a:xfrm>
          <a:noFill/>
        </p:spPr>
        <p:txBody>
          <a:bodyPr/>
          <a:lstStyle>
            <a:lvl1pPr marL="0" indent="0">
              <a:buNone/>
              <a:defRPr>
                <a:solidFill>
                  <a:schemeClr val="tx1"/>
                </a:solidFill>
              </a:defRPr>
            </a:lvl1pPr>
            <a:lvl2pPr marL="109728" indent="0">
              <a:buNone/>
              <a:defRPr>
                <a:solidFill>
                  <a:schemeClr val="tx1"/>
                </a:solidFill>
              </a:defRPr>
            </a:lvl2pPr>
            <a:lvl3pPr marL="219456" indent="0">
              <a:buNone/>
              <a:defRPr>
                <a:solidFill>
                  <a:schemeClr val="tx1"/>
                </a:solidFill>
              </a:defRPr>
            </a:lvl3pPr>
            <a:lvl4pPr marL="329184" indent="0">
              <a:buNone/>
              <a:defRPr>
                <a:solidFill>
                  <a:schemeClr val="tx1"/>
                </a:solidFill>
              </a:defRPr>
            </a:lvl4pPr>
            <a:lvl5pPr marL="438912"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26264063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438912" y="292608"/>
            <a:ext cx="6444691" cy="905806"/>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438913" y="1841472"/>
            <a:ext cx="6444690" cy="3136932"/>
          </a:xfrm>
          <a:noFill/>
        </p:spPr>
        <p:txBody>
          <a:bodyPr/>
          <a:lstStyle>
            <a:lvl1pPr marL="0" indent="0">
              <a:buNone/>
              <a:defRPr>
                <a:solidFill>
                  <a:schemeClr val="tx1"/>
                </a:solidFill>
              </a:defRPr>
            </a:lvl1pPr>
            <a:lvl2pPr marL="109728" indent="0">
              <a:buNone/>
              <a:defRPr>
                <a:solidFill>
                  <a:schemeClr val="tx1"/>
                </a:solidFill>
              </a:defRPr>
            </a:lvl2pPr>
            <a:lvl3pPr marL="219456" indent="0">
              <a:buNone/>
              <a:defRPr>
                <a:solidFill>
                  <a:schemeClr val="tx1"/>
                </a:solidFill>
              </a:defRPr>
            </a:lvl3pPr>
            <a:lvl4pPr marL="329184" indent="0">
              <a:buNone/>
              <a:defRPr>
                <a:solidFill>
                  <a:schemeClr val="tx1"/>
                </a:solidFill>
              </a:defRPr>
            </a:lvl4pPr>
            <a:lvl5pPr marL="438912"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CC4DF06-26E8-4E3D-948A-2D2139048BC6}" type="slidenum">
              <a:rPr lang="en-US" smtClean="0"/>
              <a:t>‹#›</a:t>
            </a:fld>
            <a:endParaRPr lang="en-US"/>
          </a:p>
        </p:txBody>
      </p:sp>
    </p:spTree>
    <p:extLst>
      <p:ext uri="{BB962C8B-B14F-4D97-AF65-F5344CB8AC3E}">
        <p14:creationId xmlns:p14="http://schemas.microsoft.com/office/powerpoint/2010/main" val="3406264428"/>
      </p:ext>
    </p:extLst>
  </p:cSld>
  <p:clrMapOvr>
    <a:masterClrMapping/>
  </p:clrMapOvr>
  <p:extLst>
    <p:ext uri="{DCECCB84-F9BA-43D5-87BE-67443E8EF086}">
      <p15:sldGuideLst xmlns:p15="http://schemas.microsoft.com/office/powerpoint/2012/main">
        <p15:guide id="5" orient="horz" pos="1728" userDrawn="1">
          <p15:clr>
            <a:srgbClr val="FBAE40"/>
          </p15:clr>
        </p15:guide>
        <p15:guide id="6" pos="3072"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F0FDE-D12C-58F8-1F85-B0BE2DFADE1D}"/>
              </a:ext>
            </a:extLst>
          </p:cNvPr>
          <p:cNvSpPr>
            <a:spLocks noGrp="1"/>
          </p:cNvSpPr>
          <p:nvPr>
            <p:ph type="ctrTitle"/>
          </p:nvPr>
        </p:nvSpPr>
        <p:spPr>
          <a:xfrm>
            <a:off x="914400" y="897890"/>
            <a:ext cx="5486400" cy="1910080"/>
          </a:xfrm>
        </p:spPr>
        <p:txBody>
          <a:bodyPr anchor="b"/>
          <a:lstStyle>
            <a:lvl1pPr algn="ctr">
              <a:defRPr sz="2880"/>
            </a:lvl1pPr>
          </a:lstStyle>
          <a:p>
            <a:r>
              <a:rPr lang="en-US"/>
              <a:t>Click to edit Master title style</a:t>
            </a:r>
          </a:p>
        </p:txBody>
      </p:sp>
      <p:sp>
        <p:nvSpPr>
          <p:cNvPr id="3" name="Subtitle 2">
            <a:extLst>
              <a:ext uri="{FF2B5EF4-FFF2-40B4-BE49-F238E27FC236}">
                <a16:creationId xmlns:a16="http://schemas.microsoft.com/office/drawing/2014/main" id="{8743283D-86A5-4BFD-C60F-1438A04A7D53}"/>
              </a:ext>
            </a:extLst>
          </p:cNvPr>
          <p:cNvSpPr>
            <a:spLocks noGrp="1"/>
          </p:cNvSpPr>
          <p:nvPr>
            <p:ph type="subTitle" idx="1"/>
          </p:nvPr>
        </p:nvSpPr>
        <p:spPr>
          <a:xfrm>
            <a:off x="914400" y="2881630"/>
            <a:ext cx="5486400" cy="1324610"/>
          </a:xfrm>
        </p:spPr>
        <p:txBody>
          <a:bodyPr/>
          <a:lstStyle>
            <a:lvl1pPr marL="0" indent="0" algn="ctr">
              <a:buNone/>
              <a:defRPr sz="1152"/>
            </a:lvl1pPr>
            <a:lvl2pPr marL="219456" indent="0" algn="ctr">
              <a:buNone/>
              <a:defRPr sz="960"/>
            </a:lvl2pPr>
            <a:lvl3pPr marL="438912" indent="0" algn="ctr">
              <a:buNone/>
              <a:defRPr sz="864"/>
            </a:lvl3pPr>
            <a:lvl4pPr marL="658368" indent="0" algn="ctr">
              <a:buNone/>
              <a:defRPr sz="768"/>
            </a:lvl4pPr>
            <a:lvl5pPr marL="877824" indent="0" algn="ctr">
              <a:buNone/>
              <a:defRPr sz="768"/>
            </a:lvl5pPr>
            <a:lvl6pPr marL="1097280" indent="0" algn="ctr">
              <a:buNone/>
              <a:defRPr sz="768"/>
            </a:lvl6pPr>
            <a:lvl7pPr marL="1316736" indent="0" algn="ctr">
              <a:buNone/>
              <a:defRPr sz="768"/>
            </a:lvl7pPr>
            <a:lvl8pPr marL="1536192" indent="0" algn="ctr">
              <a:buNone/>
              <a:defRPr sz="768"/>
            </a:lvl8pPr>
            <a:lvl9pPr marL="1755648" indent="0" algn="ctr">
              <a:buNone/>
              <a:defRPr sz="768"/>
            </a:lvl9pPr>
          </a:lstStyle>
          <a:p>
            <a:r>
              <a:rPr lang="en-US"/>
              <a:t>Click to edit Master subtitle style</a:t>
            </a:r>
          </a:p>
        </p:txBody>
      </p:sp>
      <p:sp>
        <p:nvSpPr>
          <p:cNvPr id="4" name="Date Placeholder 3">
            <a:extLst>
              <a:ext uri="{FF2B5EF4-FFF2-40B4-BE49-F238E27FC236}">
                <a16:creationId xmlns:a16="http://schemas.microsoft.com/office/drawing/2014/main" id="{6C1F7E18-0D64-1780-B51F-52075068D0AA}"/>
              </a:ext>
            </a:extLst>
          </p:cNvPr>
          <p:cNvSpPr>
            <a:spLocks noGrp="1"/>
          </p:cNvSpPr>
          <p:nvPr>
            <p:ph type="dt" sz="half" idx="10"/>
          </p:nvPr>
        </p:nvSpPr>
        <p:spPr/>
        <p:txBody>
          <a:bodyPr/>
          <a:lstStyle/>
          <a:p>
            <a:fld id="{AEE8197D-0DFD-45AD-BDE6-4E1618438D16}" type="datetimeFigureOut">
              <a:rPr lang="en-US" smtClean="0"/>
              <a:t>10/10/2026</a:t>
            </a:fld>
            <a:endParaRPr lang="en-US"/>
          </a:p>
        </p:txBody>
      </p:sp>
      <p:sp>
        <p:nvSpPr>
          <p:cNvPr id="5" name="Footer Placeholder 4">
            <a:extLst>
              <a:ext uri="{FF2B5EF4-FFF2-40B4-BE49-F238E27FC236}">
                <a16:creationId xmlns:a16="http://schemas.microsoft.com/office/drawing/2014/main" id="{608A2BF6-03C2-A74F-17E7-E490E47A44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FF159-5C8B-E6DC-E8D1-2E923EE1A9B1}"/>
              </a:ext>
            </a:extLst>
          </p:cNvPr>
          <p:cNvSpPr>
            <a:spLocks noGrp="1"/>
          </p:cNvSpPr>
          <p:nvPr>
            <p:ph type="sldNum" sz="quarter" idx="12"/>
          </p:nvPr>
        </p:nvSpPr>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17804429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8649-FEE1-9E7C-475D-86F19BBEB7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751FFB-999A-C22C-FFCE-E286E11F29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30C2E-86AA-A6A7-5526-903C62819577}"/>
              </a:ext>
            </a:extLst>
          </p:cNvPr>
          <p:cNvSpPr>
            <a:spLocks noGrp="1"/>
          </p:cNvSpPr>
          <p:nvPr>
            <p:ph type="dt" sz="half" idx="10"/>
          </p:nvPr>
        </p:nvSpPr>
        <p:spPr/>
        <p:txBody>
          <a:bodyPr/>
          <a:lstStyle/>
          <a:p>
            <a:fld id="{AEE8197D-0DFD-45AD-BDE6-4E1618438D16}" type="datetimeFigureOut">
              <a:rPr lang="en-US" smtClean="0"/>
              <a:t>10/10/2026</a:t>
            </a:fld>
            <a:endParaRPr lang="en-US"/>
          </a:p>
        </p:txBody>
      </p:sp>
      <p:sp>
        <p:nvSpPr>
          <p:cNvPr id="5" name="Footer Placeholder 4">
            <a:extLst>
              <a:ext uri="{FF2B5EF4-FFF2-40B4-BE49-F238E27FC236}">
                <a16:creationId xmlns:a16="http://schemas.microsoft.com/office/drawing/2014/main" id="{4E7D152D-64C5-F870-6421-D7E2FE559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DABE3-DC89-0429-556F-0E054B858BC1}"/>
              </a:ext>
            </a:extLst>
          </p:cNvPr>
          <p:cNvSpPr>
            <a:spLocks noGrp="1"/>
          </p:cNvSpPr>
          <p:nvPr>
            <p:ph type="sldNum" sz="quarter" idx="12"/>
          </p:nvPr>
        </p:nvSpPr>
        <p:spPr/>
        <p:txBody>
          <a:bodyPr/>
          <a:lstStyle/>
          <a:p>
            <a:fld id="{5CC4DF06-26E8-4E3D-948A-2D2139048BC6}" type="slidenum">
              <a:rPr lang="en-US" smtClean="0"/>
              <a:t>‹#›</a:t>
            </a:fld>
            <a:endParaRPr lang="en-US"/>
          </a:p>
        </p:txBody>
      </p:sp>
    </p:spTree>
    <p:extLst>
      <p:ext uri="{BB962C8B-B14F-4D97-AF65-F5344CB8AC3E}">
        <p14:creationId xmlns:p14="http://schemas.microsoft.com/office/powerpoint/2010/main" val="173746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502920" y="467996"/>
            <a:ext cx="6309360" cy="893449"/>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976049" y="1310879"/>
            <a:ext cx="2378818" cy="219075"/>
          </a:xfrm>
          <a:prstGeom prst="rect">
            <a:avLst/>
          </a:prstGeom>
        </p:spPr>
        <p:txBody>
          <a:bodyPr vert="horz" lIns="91440" tIns="45720" rIns="91440" bIns="45720" rtlCol="0" anchor="ctr"/>
          <a:lstStyle>
            <a:lvl1pPr algn="r" rtl="0">
              <a:defRPr sz="48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502920" y="1649179"/>
            <a:ext cx="6309360" cy="32918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5984920" y="3786189"/>
            <a:ext cx="2165352" cy="219075"/>
          </a:xfrm>
          <a:prstGeom prst="rect">
            <a:avLst/>
          </a:prstGeom>
        </p:spPr>
        <p:txBody>
          <a:bodyPr vert="horz" lIns="91440" tIns="45720" rIns="91440" bIns="45720" rtlCol="0" anchor="ctr"/>
          <a:lstStyle>
            <a:lvl1pPr algn="r" rtl="0">
              <a:defRPr sz="480">
                <a:solidFill>
                  <a:schemeClr val="tx1"/>
                </a:solidFill>
              </a:defRPr>
            </a:lvl1pPr>
          </a:lstStyle>
          <a:p>
            <a:fld id="{AEE8197D-0DFD-45AD-BDE6-4E1618438D16}" type="datetimeFigureOut">
              <a:rPr lang="en-US" smtClean="0"/>
              <a:t>10/10/2026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6907380" y="5085083"/>
            <a:ext cx="344772" cy="292100"/>
          </a:xfrm>
          <a:prstGeom prst="rect">
            <a:avLst/>
          </a:prstGeom>
        </p:spPr>
        <p:txBody>
          <a:bodyPr vert="horz" lIns="91440" tIns="45720" rIns="91440" bIns="45720" rtlCol="0" anchor="ctr"/>
          <a:lstStyle>
            <a:lvl1pPr algn="ctr" rtl="0">
              <a:defRPr sz="480">
                <a:solidFill>
                  <a:schemeClr val="tx1"/>
                </a:solidFill>
              </a:defRPr>
            </a:lvl1pPr>
          </a:lstStyle>
          <a:p>
            <a:fld id="{5CC4DF06-26E8-4E3D-948A-2D2139048BC6}"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459289"/>
            <a:ext cx="7315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75334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Lst>
  <p:txStyles>
    <p:titleStyle>
      <a:lvl1pPr algn="l" defTabSz="438912" rtl="0" eaLnBrk="1" latinLnBrk="0" hangingPunct="1">
        <a:lnSpc>
          <a:spcPct val="90000"/>
        </a:lnSpc>
        <a:spcBef>
          <a:spcPct val="0"/>
        </a:spcBef>
        <a:buNone/>
        <a:defRPr sz="2112" kern="1200" cap="all" baseline="0">
          <a:solidFill>
            <a:schemeClr val="tx1"/>
          </a:solidFill>
          <a:latin typeface="+mj-lt"/>
          <a:ea typeface="+mj-ea"/>
          <a:cs typeface="+mj-cs"/>
        </a:defRPr>
      </a:lvl1pPr>
    </p:titleStyle>
    <p:bodyStyle>
      <a:lvl1pPr marL="0" indent="0" algn="l" defTabSz="438912" rtl="0" eaLnBrk="1" latinLnBrk="0" hangingPunct="1">
        <a:lnSpc>
          <a:spcPct val="110000"/>
        </a:lnSpc>
        <a:spcBef>
          <a:spcPts val="480"/>
        </a:spcBef>
        <a:buSzPct val="80000"/>
        <a:buFont typeface="Arial" panose="020B0604020202020204" pitchFamily="34" charset="0"/>
        <a:buNone/>
        <a:defRPr sz="864" kern="1200">
          <a:solidFill>
            <a:schemeClr val="tx1"/>
          </a:solidFill>
          <a:latin typeface="+mn-lt"/>
          <a:ea typeface="+mn-ea"/>
          <a:cs typeface="+mn-cs"/>
        </a:defRPr>
      </a:lvl1pPr>
      <a:lvl2pPr marL="241402" indent="-109728" algn="l" defTabSz="438912" rtl="0" eaLnBrk="1" latinLnBrk="0" hangingPunct="1">
        <a:lnSpc>
          <a:spcPct val="110000"/>
        </a:lnSpc>
        <a:spcBef>
          <a:spcPts val="240"/>
        </a:spcBef>
        <a:buSzPct val="80000"/>
        <a:buFont typeface="Goudy Old Style" panose="02020502050305020303" pitchFamily="18" charset="0"/>
        <a:buChar char="–"/>
        <a:defRPr sz="768" i="1" kern="1200">
          <a:solidFill>
            <a:schemeClr val="tx1"/>
          </a:solidFill>
          <a:latin typeface="+mn-lt"/>
          <a:ea typeface="+mn-ea"/>
          <a:cs typeface="+mn-cs"/>
        </a:defRPr>
      </a:lvl2pPr>
      <a:lvl3pPr marL="395021" indent="-109728" algn="l" defTabSz="438912" rtl="0" eaLnBrk="1" latinLnBrk="0" hangingPunct="1">
        <a:lnSpc>
          <a:spcPct val="110000"/>
        </a:lnSpc>
        <a:spcBef>
          <a:spcPts val="240"/>
        </a:spcBef>
        <a:buSzPct val="80000"/>
        <a:buFont typeface="Arial" panose="020B0604020202020204" pitchFamily="34" charset="0"/>
        <a:buChar char="•"/>
        <a:defRPr sz="672" kern="1200">
          <a:solidFill>
            <a:schemeClr val="tx1"/>
          </a:solidFill>
          <a:latin typeface="+mn-lt"/>
          <a:ea typeface="+mn-ea"/>
          <a:cs typeface="+mn-cs"/>
        </a:defRPr>
      </a:lvl3pPr>
      <a:lvl4pPr marL="526694" indent="-109728" algn="l" defTabSz="438912" rtl="0" eaLnBrk="1" latinLnBrk="0" hangingPunct="1">
        <a:lnSpc>
          <a:spcPct val="110000"/>
        </a:lnSpc>
        <a:spcBef>
          <a:spcPts val="240"/>
        </a:spcBef>
        <a:buSzPct val="80000"/>
        <a:buFont typeface="Goudy Old Style" panose="02020502050305020303" pitchFamily="18" charset="0"/>
        <a:buChar char="–"/>
        <a:defRPr sz="672" i="1" kern="1200">
          <a:solidFill>
            <a:schemeClr val="tx1"/>
          </a:solidFill>
          <a:latin typeface="+mn-lt"/>
          <a:ea typeface="+mn-ea"/>
          <a:cs typeface="+mn-cs"/>
        </a:defRPr>
      </a:lvl4pPr>
      <a:lvl5pPr marL="658368" indent="-109728" algn="l" defTabSz="438912" rtl="0" eaLnBrk="1" latinLnBrk="0" hangingPunct="1">
        <a:lnSpc>
          <a:spcPct val="110000"/>
        </a:lnSpc>
        <a:spcBef>
          <a:spcPts val="240"/>
        </a:spcBef>
        <a:buSzPct val="80000"/>
        <a:buFont typeface="Arial" panose="020B0604020202020204" pitchFamily="34" charset="0"/>
        <a:buChar char="•"/>
        <a:defRPr sz="672" kern="1200">
          <a:solidFill>
            <a:schemeClr val="tx1"/>
          </a:solidFill>
          <a:latin typeface="+mn-lt"/>
          <a:ea typeface="+mn-ea"/>
          <a:cs typeface="+mn-cs"/>
        </a:defRPr>
      </a:lvl5pPr>
      <a:lvl6pPr marL="1207008" indent="-109728" algn="l" defTabSz="438912" rtl="0" eaLnBrk="1" latinLnBrk="0" hangingPunct="1">
        <a:lnSpc>
          <a:spcPct val="90000"/>
        </a:lnSpc>
        <a:spcBef>
          <a:spcPts val="240"/>
        </a:spcBef>
        <a:buFont typeface="Arial" panose="020B0604020202020204" pitchFamily="34" charset="0"/>
        <a:buChar char="•"/>
        <a:defRPr sz="864" kern="1200">
          <a:solidFill>
            <a:schemeClr val="tx1"/>
          </a:solidFill>
          <a:latin typeface="+mn-lt"/>
          <a:ea typeface="+mn-ea"/>
          <a:cs typeface="+mn-cs"/>
        </a:defRPr>
      </a:lvl6pPr>
      <a:lvl7pPr marL="1426464" indent="-109728" algn="l" defTabSz="438912" rtl="0" eaLnBrk="1" latinLnBrk="0" hangingPunct="1">
        <a:lnSpc>
          <a:spcPct val="90000"/>
        </a:lnSpc>
        <a:spcBef>
          <a:spcPts val="240"/>
        </a:spcBef>
        <a:buFont typeface="Arial" panose="020B0604020202020204" pitchFamily="34" charset="0"/>
        <a:buChar char="•"/>
        <a:defRPr sz="864" kern="1200">
          <a:solidFill>
            <a:schemeClr val="tx1"/>
          </a:solidFill>
          <a:latin typeface="+mn-lt"/>
          <a:ea typeface="+mn-ea"/>
          <a:cs typeface="+mn-cs"/>
        </a:defRPr>
      </a:lvl7pPr>
      <a:lvl8pPr marL="1645920" indent="-109728" algn="l" defTabSz="438912" rtl="0" eaLnBrk="1" latinLnBrk="0" hangingPunct="1">
        <a:lnSpc>
          <a:spcPct val="90000"/>
        </a:lnSpc>
        <a:spcBef>
          <a:spcPts val="240"/>
        </a:spcBef>
        <a:buFont typeface="Arial" panose="020B0604020202020204" pitchFamily="34" charset="0"/>
        <a:buChar char="•"/>
        <a:defRPr sz="864" kern="1200">
          <a:solidFill>
            <a:schemeClr val="tx1"/>
          </a:solidFill>
          <a:latin typeface="+mn-lt"/>
          <a:ea typeface="+mn-ea"/>
          <a:cs typeface="+mn-cs"/>
        </a:defRPr>
      </a:lvl8pPr>
      <a:lvl9pPr marL="1865376" indent="-109728" algn="l" defTabSz="438912" rtl="0" eaLnBrk="1" latinLnBrk="0" hangingPunct="1">
        <a:lnSpc>
          <a:spcPct val="90000"/>
        </a:lnSpc>
        <a:spcBef>
          <a:spcPts val="240"/>
        </a:spcBef>
        <a:buFont typeface="Arial" panose="020B0604020202020204" pitchFamily="34" charset="0"/>
        <a:buChar char="•"/>
        <a:defRPr sz="864" kern="1200">
          <a:solidFill>
            <a:schemeClr val="tx1"/>
          </a:solidFill>
          <a:latin typeface="+mn-lt"/>
          <a:ea typeface="+mn-ea"/>
          <a:cs typeface="+mn-cs"/>
        </a:defRPr>
      </a:lvl9pPr>
    </p:bodyStyle>
    <p:otherStyle>
      <a:defPPr>
        <a:defRPr lang="en-US"/>
      </a:defPPr>
      <a:lvl1pPr marL="0" algn="l" defTabSz="438912" rtl="0" eaLnBrk="1" latinLnBrk="0" hangingPunct="1">
        <a:defRPr sz="864" kern="1200">
          <a:solidFill>
            <a:schemeClr val="tx1"/>
          </a:solidFill>
          <a:latin typeface="+mn-lt"/>
          <a:ea typeface="+mn-ea"/>
          <a:cs typeface="+mn-cs"/>
        </a:defRPr>
      </a:lvl1pPr>
      <a:lvl2pPr marL="219456" algn="l" defTabSz="438912" rtl="0" eaLnBrk="1" latinLnBrk="0" hangingPunct="1">
        <a:defRPr sz="864" kern="1200">
          <a:solidFill>
            <a:schemeClr val="tx1"/>
          </a:solidFill>
          <a:latin typeface="+mn-lt"/>
          <a:ea typeface="+mn-ea"/>
          <a:cs typeface="+mn-cs"/>
        </a:defRPr>
      </a:lvl2pPr>
      <a:lvl3pPr marL="438912" algn="l" defTabSz="438912" rtl="0" eaLnBrk="1" latinLnBrk="0" hangingPunct="1">
        <a:defRPr sz="864" kern="1200">
          <a:solidFill>
            <a:schemeClr val="tx1"/>
          </a:solidFill>
          <a:latin typeface="+mn-lt"/>
          <a:ea typeface="+mn-ea"/>
          <a:cs typeface="+mn-cs"/>
        </a:defRPr>
      </a:lvl3pPr>
      <a:lvl4pPr marL="658368" algn="l" defTabSz="438912" rtl="0" eaLnBrk="1" latinLnBrk="0" hangingPunct="1">
        <a:defRPr sz="864" kern="1200">
          <a:solidFill>
            <a:schemeClr val="tx1"/>
          </a:solidFill>
          <a:latin typeface="+mn-lt"/>
          <a:ea typeface="+mn-ea"/>
          <a:cs typeface="+mn-cs"/>
        </a:defRPr>
      </a:lvl4pPr>
      <a:lvl5pPr marL="877824" algn="l" defTabSz="438912" rtl="0" eaLnBrk="1" latinLnBrk="0" hangingPunct="1">
        <a:defRPr sz="864" kern="1200">
          <a:solidFill>
            <a:schemeClr val="tx1"/>
          </a:solidFill>
          <a:latin typeface="+mn-lt"/>
          <a:ea typeface="+mn-ea"/>
          <a:cs typeface="+mn-cs"/>
        </a:defRPr>
      </a:lvl5pPr>
      <a:lvl6pPr marL="1097280" algn="l" defTabSz="438912" rtl="0" eaLnBrk="1" latinLnBrk="0" hangingPunct="1">
        <a:defRPr sz="864" kern="1200">
          <a:solidFill>
            <a:schemeClr val="tx1"/>
          </a:solidFill>
          <a:latin typeface="+mn-lt"/>
          <a:ea typeface="+mn-ea"/>
          <a:cs typeface="+mn-cs"/>
        </a:defRPr>
      </a:lvl6pPr>
      <a:lvl7pPr marL="1316736" algn="l" defTabSz="438912" rtl="0" eaLnBrk="1" latinLnBrk="0" hangingPunct="1">
        <a:defRPr sz="864" kern="1200">
          <a:solidFill>
            <a:schemeClr val="tx1"/>
          </a:solidFill>
          <a:latin typeface="+mn-lt"/>
          <a:ea typeface="+mn-ea"/>
          <a:cs typeface="+mn-cs"/>
        </a:defRPr>
      </a:lvl7pPr>
      <a:lvl8pPr marL="1536192" algn="l" defTabSz="438912" rtl="0" eaLnBrk="1" latinLnBrk="0" hangingPunct="1">
        <a:defRPr sz="864" kern="1200">
          <a:solidFill>
            <a:schemeClr val="tx1"/>
          </a:solidFill>
          <a:latin typeface="+mn-lt"/>
          <a:ea typeface="+mn-ea"/>
          <a:cs typeface="+mn-cs"/>
        </a:defRPr>
      </a:lvl8pPr>
      <a:lvl9pPr marL="1755648" algn="l" defTabSz="438912" rtl="0" eaLnBrk="1" latinLnBrk="0" hangingPunct="1">
        <a:defRPr sz="8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2" userDrawn="1">
          <p15:clr>
            <a:srgbClr val="F26B43"/>
          </p15:clr>
        </p15:guide>
        <p15:guide id="2" pos="422" userDrawn="1">
          <p15:clr>
            <a:srgbClr val="F26B43"/>
          </p15:clr>
        </p15:guide>
        <p15:guide id="3" orient="horz" pos="3034" userDrawn="1">
          <p15:clr>
            <a:srgbClr val="F26B43"/>
          </p15:clr>
        </p15:guide>
        <p15:guide id="4" pos="5722" userDrawn="1">
          <p15:clr>
            <a:srgbClr val="F26B43"/>
          </p15:clr>
        </p15:guide>
        <p15:guide id="5" orient="horz" pos="1728" userDrawn="1">
          <p15:clr>
            <a:srgbClr val="F26B43"/>
          </p15:clr>
        </p15:guide>
        <p15:guide id="6" pos="2304" userDrawn="1">
          <p15:clr>
            <a:srgbClr val="F26B43"/>
          </p15:clr>
        </p15:guide>
        <p15:guide id="7" pos="202" userDrawn="1">
          <p15:clr>
            <a:srgbClr val="F26B43"/>
          </p15:clr>
        </p15:guide>
        <p15:guide id="8" pos="4406" userDrawn="1">
          <p15:clr>
            <a:srgbClr val="F26B43"/>
          </p15:clr>
        </p15:guide>
        <p15:guide id="9" orient="horz" pos="3264" userDrawn="1">
          <p15:clr>
            <a:srgbClr val="F26B43"/>
          </p15:clr>
        </p15:guide>
        <p15:guide id="10" orient="horz" pos="1075" userDrawn="1">
          <p15:clr>
            <a:srgbClr val="F26B43"/>
          </p15:clr>
        </p15:guide>
        <p15:guide id="11" orient="horz" pos="311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8685F-E234-6956-0B53-72CC60DB62E9}"/>
              </a:ext>
            </a:extLst>
          </p:cNvPr>
          <p:cNvSpPr>
            <a:spLocks noGrp="1"/>
          </p:cNvSpPr>
          <p:nvPr>
            <p:ph type="title"/>
          </p:nvPr>
        </p:nvSpPr>
        <p:spPr/>
        <p:txBody>
          <a:bodyPr>
            <a:normAutofit/>
          </a:bodyPr>
          <a:lstStyle/>
          <a:p>
            <a:pPr algn="ctr"/>
            <a:r>
              <a:rPr lang="en-US" sz="1920" dirty="0"/>
              <a:t>Customer Analysis of Nova Tech Electronics Limited</a:t>
            </a:r>
          </a:p>
        </p:txBody>
      </p:sp>
      <p:sp>
        <p:nvSpPr>
          <p:cNvPr id="7" name="TextBox 6">
            <a:extLst>
              <a:ext uri="{FF2B5EF4-FFF2-40B4-BE49-F238E27FC236}">
                <a16:creationId xmlns:a16="http://schemas.microsoft.com/office/drawing/2014/main" id="{4CBD4D43-6125-9E48-C227-C292B45BB06A}"/>
              </a:ext>
            </a:extLst>
          </p:cNvPr>
          <p:cNvSpPr txBox="1"/>
          <p:nvPr/>
        </p:nvSpPr>
        <p:spPr>
          <a:xfrm>
            <a:off x="1295837" y="2063630"/>
            <a:ext cx="5037038" cy="1451423"/>
          </a:xfrm>
          <a:prstGeom prst="rect">
            <a:avLst/>
          </a:prstGeom>
          <a:noFill/>
        </p:spPr>
        <p:txBody>
          <a:bodyPr wrap="square" rtlCol="0">
            <a:spAutoFit/>
          </a:bodyPr>
          <a:lstStyle/>
          <a:p>
            <a:r>
              <a:rPr lang="en-US" sz="2816" b="1" dirty="0">
                <a:solidFill>
                  <a:srgbClr val="000000"/>
                </a:solidFill>
                <a:latin typeface="Algerian" panose="04020705040A02060702" pitchFamily="82" charset="0"/>
              </a:rPr>
              <a:t>CUSTOMER ANALYSIS FOR NOVA TECH </a:t>
            </a:r>
            <a:r>
              <a:rPr lang="en-US" sz="3200" b="1" dirty="0">
                <a:solidFill>
                  <a:srgbClr val="000000"/>
                </a:solidFill>
                <a:latin typeface="Algerian" panose="04020705040A02060702" pitchFamily="82" charset="0"/>
              </a:rPr>
              <a:t>ELECTRONICS</a:t>
            </a:r>
            <a:r>
              <a:rPr lang="en-US" sz="2816" b="1" dirty="0">
                <a:solidFill>
                  <a:srgbClr val="000000"/>
                </a:solidFill>
                <a:latin typeface="Algerian" panose="04020705040A02060702" pitchFamily="82" charset="0"/>
              </a:rPr>
              <a:t> LIMITED</a:t>
            </a:r>
          </a:p>
        </p:txBody>
      </p:sp>
    </p:spTree>
    <p:extLst>
      <p:ext uri="{BB962C8B-B14F-4D97-AF65-F5344CB8AC3E}">
        <p14:creationId xmlns:p14="http://schemas.microsoft.com/office/powerpoint/2010/main" val="3196799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24711C-02AA-58BA-7B66-55F8EB8E0DCA}"/>
              </a:ext>
            </a:extLst>
          </p:cNvPr>
          <p:cNvSpPr>
            <a:spLocks noGrp="1"/>
          </p:cNvSpPr>
          <p:nvPr>
            <p:ph idx="1"/>
          </p:nvPr>
        </p:nvSpPr>
        <p:spPr>
          <a:xfrm>
            <a:off x="653143" y="2216660"/>
            <a:ext cx="5340096" cy="2987583"/>
          </a:xfrm>
        </p:spPr>
        <p:txBody>
          <a:bodyPr>
            <a:normAutofit fontScale="25000" lnSpcReduction="20000"/>
          </a:bodyPr>
          <a:lstStyle/>
          <a:p>
            <a:r>
              <a:rPr lang="en-US" sz="5500" dirty="0">
                <a:solidFill>
                  <a:srgbClr val="FFFFFF"/>
                </a:solidFill>
              </a:rPr>
              <a:t>Ikey areas covered include;</a:t>
            </a:r>
          </a:p>
          <a:p>
            <a:r>
              <a:rPr lang="en-US" sz="5500" dirty="0">
                <a:solidFill>
                  <a:srgbClr val="FFFFFF"/>
                </a:solidFill>
              </a:rPr>
              <a:t> *Customer demography (Gender)</a:t>
            </a:r>
          </a:p>
          <a:p>
            <a:r>
              <a:rPr lang="en-US" sz="5500" dirty="0">
                <a:solidFill>
                  <a:srgbClr val="FFFFFF"/>
                </a:solidFill>
              </a:rPr>
              <a:t> *Customer satisfaction</a:t>
            </a:r>
          </a:p>
          <a:p>
            <a:r>
              <a:rPr lang="en-US" sz="5500" dirty="0">
                <a:solidFill>
                  <a:srgbClr val="FFFFFF"/>
                </a:solidFill>
              </a:rPr>
              <a:t> *Product Importance</a:t>
            </a:r>
          </a:p>
          <a:p>
            <a:r>
              <a:rPr lang="en-US" sz="5500" dirty="0">
                <a:solidFill>
                  <a:srgbClr val="FFFFFF"/>
                </a:solidFill>
              </a:rPr>
              <a:t> *Shipment mode</a:t>
            </a:r>
          </a:p>
          <a:p>
            <a:r>
              <a:rPr lang="en-US" sz="5500" dirty="0">
                <a:solidFill>
                  <a:srgbClr val="FFFFFF"/>
                </a:solidFill>
              </a:rPr>
              <a:t> *Shipment promptness</a:t>
            </a:r>
          </a:p>
          <a:p>
            <a:r>
              <a:rPr lang="en-US" sz="5500" dirty="0">
                <a:solidFill>
                  <a:srgbClr val="FFFFFF"/>
                </a:solidFill>
              </a:rPr>
              <a:t> *Warehouse block usage</a:t>
            </a:r>
          </a:p>
          <a:p>
            <a:r>
              <a:rPr lang="en-US" sz="5500" dirty="0">
                <a:solidFill>
                  <a:srgbClr val="FFFFFF"/>
                </a:solidFill>
              </a:rPr>
              <a:t> *Customer care calls</a:t>
            </a:r>
          </a:p>
          <a:p>
            <a:r>
              <a:rPr lang="en-US" sz="5500" dirty="0">
                <a:solidFill>
                  <a:srgbClr val="FFFFFF"/>
                </a:solidFill>
              </a:rPr>
              <a:t> *Total cost of product</a:t>
            </a:r>
          </a:p>
          <a:p>
            <a:endParaRPr lang="en-US" sz="1152" dirty="0">
              <a:solidFill>
                <a:srgbClr val="FFFFFF"/>
              </a:solidFill>
            </a:endParaRPr>
          </a:p>
          <a:p>
            <a:endParaRPr lang="en-US" sz="1152" dirty="0">
              <a:solidFill>
                <a:srgbClr val="FFFFFF"/>
              </a:solidFill>
            </a:endParaRPr>
          </a:p>
          <a:p>
            <a:endParaRPr lang="en-US" sz="1152" dirty="0">
              <a:solidFill>
                <a:srgbClr val="000000"/>
              </a:solidFill>
            </a:endParaRPr>
          </a:p>
          <a:p>
            <a:endParaRPr lang="en-US" sz="1152" dirty="0">
              <a:solidFill>
                <a:srgbClr val="000000"/>
              </a:solidFill>
            </a:endParaRPr>
          </a:p>
          <a:p>
            <a:endParaRPr lang="en-US" sz="1152" dirty="0">
              <a:solidFill>
                <a:srgbClr val="000000"/>
              </a:solidFill>
            </a:endParaRPr>
          </a:p>
          <a:p>
            <a:pPr marL="182880" indent="-182880">
              <a:buFont typeface="Arial" panose="020B0604020202020204" pitchFamily="34" charset="0"/>
              <a:buChar char="•"/>
            </a:pPr>
            <a:r>
              <a:rPr lang="en-US" dirty="0"/>
              <a:t> an analysis of customer behavior for Nova Tech Electronics Limited </a:t>
            </a:r>
          </a:p>
        </p:txBody>
      </p:sp>
      <p:sp>
        <p:nvSpPr>
          <p:cNvPr id="4" name="TextBox 3">
            <a:extLst>
              <a:ext uri="{FF2B5EF4-FFF2-40B4-BE49-F238E27FC236}">
                <a16:creationId xmlns:a16="http://schemas.microsoft.com/office/drawing/2014/main" id="{53500A0D-B6EA-9C5F-D7A8-A0E3260C9D68}"/>
              </a:ext>
            </a:extLst>
          </p:cNvPr>
          <p:cNvSpPr txBox="1"/>
          <p:nvPr/>
        </p:nvSpPr>
        <p:spPr>
          <a:xfrm>
            <a:off x="505097" y="501575"/>
            <a:ext cx="1613327" cy="289310"/>
          </a:xfrm>
          <a:prstGeom prst="rect">
            <a:avLst/>
          </a:prstGeom>
          <a:noFill/>
        </p:spPr>
        <p:txBody>
          <a:bodyPr wrap="none" rtlCol="0">
            <a:spAutoFit/>
          </a:bodyPr>
          <a:lstStyle/>
          <a:p>
            <a:r>
              <a:rPr lang="en-US" sz="1280" b="1" dirty="0">
                <a:solidFill>
                  <a:srgbClr val="002060"/>
                </a:solidFill>
                <a:latin typeface="Arial Black" panose="020B0A04020102020204" pitchFamily="34" charset="0"/>
              </a:rPr>
              <a:t>INTRODUCTION</a:t>
            </a:r>
          </a:p>
        </p:txBody>
      </p:sp>
      <p:sp>
        <p:nvSpPr>
          <p:cNvPr id="6" name="Title 5">
            <a:extLst>
              <a:ext uri="{FF2B5EF4-FFF2-40B4-BE49-F238E27FC236}">
                <a16:creationId xmlns:a16="http://schemas.microsoft.com/office/drawing/2014/main" id="{20D464A5-4B48-E75A-9992-5DF81BEF6EF5}"/>
              </a:ext>
            </a:extLst>
          </p:cNvPr>
          <p:cNvSpPr>
            <a:spLocks noGrp="1"/>
          </p:cNvSpPr>
          <p:nvPr>
            <p:ph type="title"/>
          </p:nvPr>
        </p:nvSpPr>
        <p:spPr>
          <a:xfrm>
            <a:off x="653143" y="1685980"/>
            <a:ext cx="5059679" cy="306541"/>
          </a:xfrm>
        </p:spPr>
        <p:txBody>
          <a:bodyPr>
            <a:noAutofit/>
          </a:bodyPr>
          <a:lstStyle/>
          <a:p>
            <a:r>
              <a:rPr lang="en-US" sz="1400" cap="none" dirty="0">
                <a:solidFill>
                  <a:srgbClr val="FFFFFF"/>
                </a:solidFill>
              </a:rPr>
              <a:t>This section present an analysis of customers of Nova Tech Electronic Limited. The analysis focuses on knowing who our customers are, their satisfaction rate, preferred shipment mode, interaction with customer care, and total cost of product bought by customers</a:t>
            </a:r>
            <a:r>
              <a:rPr lang="en-US" sz="1024" cap="none" dirty="0">
                <a:solidFill>
                  <a:srgbClr val="FFFFFF"/>
                </a:solidFill>
              </a:rPr>
              <a:t>.</a:t>
            </a:r>
          </a:p>
        </p:txBody>
      </p:sp>
    </p:spTree>
    <p:extLst>
      <p:ext uri="{BB962C8B-B14F-4D97-AF65-F5344CB8AC3E}">
        <p14:creationId xmlns:p14="http://schemas.microsoft.com/office/powerpoint/2010/main" val="1257102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68F74EE-4FF6-1CDF-813E-D314805B46A6}"/>
              </a:ext>
            </a:extLst>
          </p:cNvPr>
          <p:cNvPicPr>
            <a:picLocks noChangeAspect="1"/>
          </p:cNvPicPr>
          <p:nvPr/>
        </p:nvPicPr>
        <p:blipFill>
          <a:blip r:embed="rId3">
            <a:alphaModFix/>
            <a:extLst>
              <a:ext uri="{BEBA8EAE-BF5A-486C-A8C5-ECC9F3942E4B}">
                <a14:imgProps xmlns:a14="http://schemas.microsoft.com/office/drawing/2010/main">
                  <a14:imgLayer r:embed="rId4">
                    <a14:imgEffect>
                      <a14:colorTemperature colorTemp="6600"/>
                    </a14:imgEffect>
                    <a14:imgEffect>
                      <a14:brightnessContrast contrast="-1000"/>
                    </a14:imgEffect>
                  </a14:imgLayer>
                </a14:imgProps>
              </a:ext>
            </a:extLst>
          </a:blip>
          <a:srcRect l="1644" r="1642"/>
          <a:stretch>
            <a:fillRect/>
          </a:stretch>
        </p:blipFill>
        <p:spPr>
          <a:xfrm>
            <a:off x="783771" y="487680"/>
            <a:ext cx="5715784" cy="4926047"/>
          </a:xfrm>
          <a:prstGeom prst="rect">
            <a:avLst/>
          </a:prstGeom>
          <a:ln>
            <a:noFill/>
          </a:ln>
          <a:effectLst>
            <a:softEdge rad="112500"/>
          </a:effectLst>
        </p:spPr>
      </p:pic>
      <p:sp>
        <p:nvSpPr>
          <p:cNvPr id="37" name="TextBox 36">
            <a:extLst>
              <a:ext uri="{FF2B5EF4-FFF2-40B4-BE49-F238E27FC236}">
                <a16:creationId xmlns:a16="http://schemas.microsoft.com/office/drawing/2014/main" id="{E743235A-81B7-AFFE-DA86-E3AC7E4C8E22}"/>
              </a:ext>
            </a:extLst>
          </p:cNvPr>
          <p:cNvSpPr txBox="1"/>
          <p:nvPr/>
        </p:nvSpPr>
        <p:spPr>
          <a:xfrm>
            <a:off x="2521526" y="101270"/>
            <a:ext cx="2146743" cy="269626"/>
          </a:xfrm>
          <a:prstGeom prst="rect">
            <a:avLst/>
          </a:prstGeom>
          <a:noFill/>
        </p:spPr>
        <p:txBody>
          <a:bodyPr wrap="none" rtlCol="0">
            <a:spAutoFit/>
          </a:bodyPr>
          <a:lstStyle/>
          <a:p>
            <a:pPr algn="ctr"/>
            <a:r>
              <a:rPr lang="en-US" sz="1152" b="1" dirty="0">
                <a:solidFill>
                  <a:srgbClr val="000000"/>
                </a:solidFill>
                <a:latin typeface="Arial Black" panose="020B0A04020102020204" pitchFamily="34" charset="0"/>
              </a:rPr>
              <a:t>CUSTOMER BY GENDER</a:t>
            </a:r>
          </a:p>
        </p:txBody>
      </p:sp>
    </p:spTree>
    <p:extLst>
      <p:ext uri="{BB962C8B-B14F-4D97-AF65-F5344CB8AC3E}">
        <p14:creationId xmlns:p14="http://schemas.microsoft.com/office/powerpoint/2010/main" val="3584278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BB6591-8D51-2915-C9B8-11AC4D0ABA1C}"/>
              </a:ext>
            </a:extLst>
          </p:cNvPr>
          <p:cNvPicPr>
            <a:picLocks noChangeAspect="1"/>
          </p:cNvPicPr>
          <p:nvPr/>
        </p:nvPicPr>
        <p:blipFill>
          <a:blip r:embed="rId3"/>
          <a:stretch>
            <a:fillRect/>
          </a:stretch>
        </p:blipFill>
        <p:spPr>
          <a:xfrm>
            <a:off x="313509" y="478971"/>
            <a:ext cx="6792685" cy="4659085"/>
          </a:xfrm>
          <a:prstGeom prst="rect">
            <a:avLst/>
          </a:prstGeom>
          <a:ln>
            <a:noFill/>
          </a:ln>
          <a:effectLst>
            <a:softEdge rad="112500"/>
          </a:effectLst>
        </p:spPr>
      </p:pic>
      <p:sp>
        <p:nvSpPr>
          <p:cNvPr id="6" name="TextBox 5">
            <a:extLst>
              <a:ext uri="{FF2B5EF4-FFF2-40B4-BE49-F238E27FC236}">
                <a16:creationId xmlns:a16="http://schemas.microsoft.com/office/drawing/2014/main" id="{340ED0EC-1BEF-E5DA-6995-4500EC0FB689}"/>
              </a:ext>
            </a:extLst>
          </p:cNvPr>
          <p:cNvSpPr txBox="1"/>
          <p:nvPr/>
        </p:nvSpPr>
        <p:spPr>
          <a:xfrm>
            <a:off x="2106534" y="139338"/>
            <a:ext cx="3102131" cy="269626"/>
          </a:xfrm>
          <a:prstGeom prst="rect">
            <a:avLst/>
          </a:prstGeom>
          <a:noFill/>
        </p:spPr>
        <p:txBody>
          <a:bodyPr wrap="none" rtlCol="0">
            <a:spAutoFit/>
          </a:bodyPr>
          <a:lstStyle/>
          <a:p>
            <a:pPr algn="ctr"/>
            <a:r>
              <a:rPr lang="en-US" sz="1152" b="1" dirty="0">
                <a:solidFill>
                  <a:srgbClr val="000000"/>
                </a:solidFill>
                <a:latin typeface="Arial Black" panose="020B0A04020102020204" pitchFamily="34" charset="0"/>
              </a:rPr>
              <a:t>CUSTOMER SATISFACTION RATING</a:t>
            </a:r>
          </a:p>
        </p:txBody>
      </p:sp>
    </p:spTree>
    <p:extLst>
      <p:ext uri="{BB962C8B-B14F-4D97-AF65-F5344CB8AC3E}">
        <p14:creationId xmlns:p14="http://schemas.microsoft.com/office/powerpoint/2010/main" val="762174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28A4E5-151B-25E2-53DC-1827B989DB35}"/>
              </a:ext>
            </a:extLst>
          </p:cNvPr>
          <p:cNvPicPr>
            <a:picLocks noChangeAspect="1"/>
          </p:cNvPicPr>
          <p:nvPr/>
        </p:nvPicPr>
        <p:blipFill>
          <a:blip r:embed="rId3"/>
          <a:stretch>
            <a:fillRect/>
          </a:stretch>
        </p:blipFill>
        <p:spPr>
          <a:xfrm>
            <a:off x="200297" y="487680"/>
            <a:ext cx="6844937" cy="4781006"/>
          </a:xfrm>
          <a:prstGeom prst="rect">
            <a:avLst/>
          </a:prstGeom>
          <a:ln>
            <a:noFill/>
          </a:ln>
          <a:effectLst>
            <a:softEdge rad="112500"/>
          </a:effectLst>
        </p:spPr>
      </p:pic>
      <p:sp>
        <p:nvSpPr>
          <p:cNvPr id="4" name="TextBox 3">
            <a:extLst>
              <a:ext uri="{FF2B5EF4-FFF2-40B4-BE49-F238E27FC236}">
                <a16:creationId xmlns:a16="http://schemas.microsoft.com/office/drawing/2014/main" id="{55BD51FC-81A5-8F29-E146-151C293DC0B4}"/>
              </a:ext>
            </a:extLst>
          </p:cNvPr>
          <p:cNvSpPr txBox="1"/>
          <p:nvPr/>
        </p:nvSpPr>
        <p:spPr>
          <a:xfrm>
            <a:off x="2746685" y="82901"/>
            <a:ext cx="2154757"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PRODUCT IMPORTANCE</a:t>
            </a:r>
          </a:p>
        </p:txBody>
      </p:sp>
    </p:spTree>
    <p:extLst>
      <p:ext uri="{BB962C8B-B14F-4D97-AF65-F5344CB8AC3E}">
        <p14:creationId xmlns:p14="http://schemas.microsoft.com/office/powerpoint/2010/main" val="4213699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6707C0-CAA3-5BF0-93D7-D9B29D881899}"/>
              </a:ext>
            </a:extLst>
          </p:cNvPr>
          <p:cNvPicPr>
            <a:picLocks noChangeAspect="1"/>
          </p:cNvPicPr>
          <p:nvPr/>
        </p:nvPicPr>
        <p:blipFill>
          <a:blip r:embed="rId3"/>
          <a:stretch>
            <a:fillRect/>
          </a:stretch>
        </p:blipFill>
        <p:spPr>
          <a:xfrm>
            <a:off x="235131" y="513806"/>
            <a:ext cx="6827519" cy="4754880"/>
          </a:xfrm>
          <a:prstGeom prst="rect">
            <a:avLst/>
          </a:prstGeom>
          <a:ln>
            <a:noFill/>
          </a:ln>
          <a:effectLst>
            <a:softEdge rad="112500"/>
          </a:effectLst>
        </p:spPr>
      </p:pic>
      <p:sp>
        <p:nvSpPr>
          <p:cNvPr id="4" name="TextBox 3">
            <a:extLst>
              <a:ext uri="{FF2B5EF4-FFF2-40B4-BE49-F238E27FC236}">
                <a16:creationId xmlns:a16="http://schemas.microsoft.com/office/drawing/2014/main" id="{145BC922-4302-628D-31CB-DA959FF66F0A}"/>
              </a:ext>
            </a:extLst>
          </p:cNvPr>
          <p:cNvSpPr txBox="1"/>
          <p:nvPr/>
        </p:nvSpPr>
        <p:spPr>
          <a:xfrm>
            <a:off x="2489415" y="148045"/>
            <a:ext cx="2517036"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PREFERED SHIPMENT MODE</a:t>
            </a:r>
          </a:p>
        </p:txBody>
      </p:sp>
    </p:spTree>
    <p:extLst>
      <p:ext uri="{BB962C8B-B14F-4D97-AF65-F5344CB8AC3E}">
        <p14:creationId xmlns:p14="http://schemas.microsoft.com/office/powerpoint/2010/main" val="3471514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866D2E-54D5-5F68-C46E-44E3CD01F9E9}"/>
              </a:ext>
            </a:extLst>
          </p:cNvPr>
          <p:cNvPicPr>
            <a:picLocks noChangeAspect="1"/>
          </p:cNvPicPr>
          <p:nvPr/>
        </p:nvPicPr>
        <p:blipFill>
          <a:blip r:embed="rId3"/>
          <a:stretch>
            <a:fillRect/>
          </a:stretch>
        </p:blipFill>
        <p:spPr>
          <a:xfrm>
            <a:off x="200297" y="836023"/>
            <a:ext cx="7114903" cy="3814354"/>
          </a:xfrm>
          <a:prstGeom prst="rect">
            <a:avLst/>
          </a:prstGeom>
          <a:ln>
            <a:noFill/>
          </a:ln>
          <a:effectLst>
            <a:softEdge rad="112500"/>
          </a:effectLst>
        </p:spPr>
      </p:pic>
      <p:sp>
        <p:nvSpPr>
          <p:cNvPr id="4" name="TextBox 3">
            <a:extLst>
              <a:ext uri="{FF2B5EF4-FFF2-40B4-BE49-F238E27FC236}">
                <a16:creationId xmlns:a16="http://schemas.microsoft.com/office/drawing/2014/main" id="{7DA18865-2D1C-DC40-A0D3-94075C311ACF}"/>
              </a:ext>
            </a:extLst>
          </p:cNvPr>
          <p:cNvSpPr txBox="1"/>
          <p:nvPr/>
        </p:nvSpPr>
        <p:spPr>
          <a:xfrm>
            <a:off x="2572329" y="94053"/>
            <a:ext cx="2254143"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SHIPMENT PROMPTNESS</a:t>
            </a:r>
          </a:p>
        </p:txBody>
      </p:sp>
    </p:spTree>
    <p:extLst>
      <p:ext uri="{BB962C8B-B14F-4D97-AF65-F5344CB8AC3E}">
        <p14:creationId xmlns:p14="http://schemas.microsoft.com/office/powerpoint/2010/main" val="399048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0D4C00-F2BA-02D2-941B-0D806DDD6FD6}"/>
              </a:ext>
            </a:extLst>
          </p:cNvPr>
          <p:cNvPicPr>
            <a:picLocks noChangeAspect="1"/>
          </p:cNvPicPr>
          <p:nvPr/>
        </p:nvPicPr>
        <p:blipFill>
          <a:blip r:embed="rId3"/>
          <a:stretch>
            <a:fillRect/>
          </a:stretch>
        </p:blipFill>
        <p:spPr>
          <a:xfrm>
            <a:off x="1" y="417672"/>
            <a:ext cx="7315200" cy="5068727"/>
          </a:xfrm>
          <a:prstGeom prst="rect">
            <a:avLst/>
          </a:prstGeom>
        </p:spPr>
      </p:pic>
      <p:sp>
        <p:nvSpPr>
          <p:cNvPr id="5" name="TextBox 4">
            <a:extLst>
              <a:ext uri="{FF2B5EF4-FFF2-40B4-BE49-F238E27FC236}">
                <a16:creationId xmlns:a16="http://schemas.microsoft.com/office/drawing/2014/main" id="{BAA4BFFF-A01C-E021-CA20-214A98AFE7B8}"/>
              </a:ext>
            </a:extLst>
          </p:cNvPr>
          <p:cNvSpPr txBox="1"/>
          <p:nvPr/>
        </p:nvSpPr>
        <p:spPr>
          <a:xfrm>
            <a:off x="2600379" y="148046"/>
            <a:ext cx="2507418"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WAREHOUSE BLOCK USAGE</a:t>
            </a:r>
          </a:p>
        </p:txBody>
      </p:sp>
    </p:spTree>
    <p:extLst>
      <p:ext uri="{BB962C8B-B14F-4D97-AF65-F5344CB8AC3E}">
        <p14:creationId xmlns:p14="http://schemas.microsoft.com/office/powerpoint/2010/main" val="169296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D39375-EA09-8FE2-E6A5-01140E81463A}"/>
              </a:ext>
            </a:extLst>
          </p:cNvPr>
          <p:cNvPicPr>
            <a:picLocks noChangeAspect="1"/>
          </p:cNvPicPr>
          <p:nvPr/>
        </p:nvPicPr>
        <p:blipFill>
          <a:blip r:embed="rId3"/>
          <a:stretch>
            <a:fillRect/>
          </a:stretch>
        </p:blipFill>
        <p:spPr>
          <a:xfrm>
            <a:off x="104504" y="470263"/>
            <a:ext cx="7141028" cy="4902925"/>
          </a:xfrm>
          <a:prstGeom prst="rect">
            <a:avLst/>
          </a:prstGeom>
        </p:spPr>
      </p:pic>
      <p:sp>
        <p:nvSpPr>
          <p:cNvPr id="4" name="TextBox 3">
            <a:extLst>
              <a:ext uri="{FF2B5EF4-FFF2-40B4-BE49-F238E27FC236}">
                <a16:creationId xmlns:a16="http://schemas.microsoft.com/office/drawing/2014/main" id="{16875E63-AE26-3E88-6394-F03A12DFC0C9}"/>
              </a:ext>
            </a:extLst>
          </p:cNvPr>
          <p:cNvSpPr txBox="1"/>
          <p:nvPr/>
        </p:nvSpPr>
        <p:spPr>
          <a:xfrm>
            <a:off x="2849445" y="113211"/>
            <a:ext cx="2210862"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CUSTOMER CARE CALLS</a:t>
            </a:r>
          </a:p>
        </p:txBody>
      </p:sp>
    </p:spTree>
    <p:extLst>
      <p:ext uri="{BB962C8B-B14F-4D97-AF65-F5344CB8AC3E}">
        <p14:creationId xmlns:p14="http://schemas.microsoft.com/office/powerpoint/2010/main" val="1341461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2CA675-2E78-986D-8690-4A5DCD928674}"/>
              </a:ext>
            </a:extLst>
          </p:cNvPr>
          <p:cNvPicPr>
            <a:picLocks noChangeAspect="1"/>
          </p:cNvPicPr>
          <p:nvPr/>
        </p:nvPicPr>
        <p:blipFill>
          <a:blip r:embed="rId3"/>
          <a:stretch>
            <a:fillRect/>
          </a:stretch>
        </p:blipFill>
        <p:spPr>
          <a:xfrm>
            <a:off x="3044518" y="269626"/>
            <a:ext cx="1404592" cy="5216774"/>
          </a:xfrm>
          <a:prstGeom prst="rect">
            <a:avLst/>
          </a:prstGeom>
          <a:ln>
            <a:noFill/>
          </a:ln>
          <a:effectLst>
            <a:softEdge rad="112500"/>
          </a:effectLst>
        </p:spPr>
      </p:pic>
      <p:sp>
        <p:nvSpPr>
          <p:cNvPr id="5" name="TextBox 4">
            <a:extLst>
              <a:ext uri="{FF2B5EF4-FFF2-40B4-BE49-F238E27FC236}">
                <a16:creationId xmlns:a16="http://schemas.microsoft.com/office/drawing/2014/main" id="{AF1DAB3F-8F9E-A672-1C7B-E1B45CF99A13}"/>
              </a:ext>
            </a:extLst>
          </p:cNvPr>
          <p:cNvSpPr txBox="1"/>
          <p:nvPr/>
        </p:nvSpPr>
        <p:spPr>
          <a:xfrm>
            <a:off x="2669787" y="0"/>
            <a:ext cx="2367956" cy="269626"/>
          </a:xfrm>
          <a:prstGeom prst="rect">
            <a:avLst/>
          </a:prstGeom>
          <a:noFill/>
        </p:spPr>
        <p:txBody>
          <a:bodyPr wrap="none" rtlCol="0">
            <a:spAutoFit/>
          </a:bodyPr>
          <a:lstStyle/>
          <a:p>
            <a:r>
              <a:rPr lang="en-US" sz="1152" b="1" dirty="0">
                <a:solidFill>
                  <a:srgbClr val="000000"/>
                </a:solidFill>
                <a:latin typeface="Arial Black" panose="020B0A04020102020204" pitchFamily="34" charset="0"/>
              </a:rPr>
              <a:t>TOTAL COST OF PRODUCT</a:t>
            </a:r>
          </a:p>
        </p:txBody>
      </p:sp>
    </p:spTree>
    <p:extLst>
      <p:ext uri="{BB962C8B-B14F-4D97-AF65-F5344CB8AC3E}">
        <p14:creationId xmlns:p14="http://schemas.microsoft.com/office/powerpoint/2010/main" val="119348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E8607-0ED4-D962-475C-46A01C33D4DD}"/>
              </a:ext>
            </a:extLst>
          </p:cNvPr>
          <p:cNvSpPr>
            <a:spLocks noGrp="1"/>
          </p:cNvSpPr>
          <p:nvPr>
            <p:ph type="title"/>
          </p:nvPr>
        </p:nvSpPr>
        <p:spPr>
          <a:xfrm>
            <a:off x="1135319" y="484267"/>
            <a:ext cx="3524307" cy="725668"/>
          </a:xfrm>
        </p:spPr>
        <p:txBody>
          <a:bodyPr/>
          <a:lstStyle/>
          <a:p>
            <a:r>
              <a:rPr lang="en-US" sz="1536" b="1" dirty="0">
                <a:solidFill>
                  <a:srgbClr val="000000"/>
                </a:solidFill>
                <a:latin typeface="Aptos ExtraBold" panose="020F0502020204030204" pitchFamily="34" charset="0"/>
              </a:rPr>
              <a:t>C</a:t>
            </a:r>
            <a:r>
              <a:rPr lang="en-US" sz="1536" b="1" cap="none" dirty="0">
                <a:solidFill>
                  <a:srgbClr val="000000"/>
                </a:solidFill>
                <a:latin typeface="Aptos ExtraBold" panose="020F0502020204030204" pitchFamily="34" charset="0"/>
              </a:rPr>
              <a:t>onclusion</a:t>
            </a:r>
            <a:endParaRPr lang="en-US" sz="1536" b="1" dirty="0">
              <a:solidFill>
                <a:srgbClr val="000000"/>
              </a:solidFill>
              <a:latin typeface="Aptos ExtraBold" panose="020F0502020204030204" pitchFamily="34" charset="0"/>
            </a:endParaRPr>
          </a:p>
        </p:txBody>
      </p:sp>
      <p:grpSp>
        <p:nvGrpSpPr>
          <p:cNvPr id="5" name="Group 4">
            <a:extLst>
              <a:ext uri="{FF2B5EF4-FFF2-40B4-BE49-F238E27FC236}">
                <a16:creationId xmlns:a16="http://schemas.microsoft.com/office/drawing/2014/main" id="{1A384957-FE35-A979-07EF-0DAD2C7400B6}"/>
              </a:ext>
            </a:extLst>
          </p:cNvPr>
          <p:cNvGrpSpPr/>
          <p:nvPr/>
        </p:nvGrpSpPr>
        <p:grpSpPr>
          <a:xfrm>
            <a:off x="623622" y="1407041"/>
            <a:ext cx="5715469" cy="2168253"/>
            <a:chOff x="51423" y="1383369"/>
            <a:chExt cx="8930421" cy="3387895"/>
          </a:xfrm>
        </p:grpSpPr>
        <p:sp>
          <p:nvSpPr>
            <p:cNvPr id="6" name="Freeform: Shape 5">
              <a:extLst>
                <a:ext uri="{FF2B5EF4-FFF2-40B4-BE49-F238E27FC236}">
                  <a16:creationId xmlns:a16="http://schemas.microsoft.com/office/drawing/2014/main" id="{9B78FF0C-850E-A449-71B7-9E1EC339579A}"/>
                </a:ext>
              </a:extLst>
            </p:cNvPr>
            <p:cNvSpPr/>
            <p:nvPr/>
          </p:nvSpPr>
          <p:spPr>
            <a:xfrm rot="16200000">
              <a:off x="-1019988" y="3278967"/>
              <a:ext cx="2563708" cy="420885"/>
            </a:xfrm>
            <a:custGeom>
              <a:avLst/>
              <a:gdLst>
                <a:gd name="csX0" fmla="*/ 0 w 2563708"/>
                <a:gd name="csY0" fmla="*/ 0 h 420885"/>
                <a:gd name="csX1" fmla="*/ 2563708 w 2563708"/>
                <a:gd name="csY1" fmla="*/ 0 h 420885"/>
                <a:gd name="csX2" fmla="*/ 2563708 w 2563708"/>
                <a:gd name="csY2" fmla="*/ 420885 h 420885"/>
                <a:gd name="csX3" fmla="*/ 0 w 2563708"/>
                <a:gd name="csY3" fmla="*/ 420885 h 420885"/>
                <a:gd name="csX4" fmla="*/ 0 w 2563708"/>
                <a:gd name="csY4" fmla="*/ 0 h 420885"/>
              </a:gdLst>
              <a:ahLst/>
              <a:cxnLst>
                <a:cxn ang="0">
                  <a:pos x="csX0" y="csY0"/>
                </a:cxn>
                <a:cxn ang="0">
                  <a:pos x="csX1" y="csY1"/>
                </a:cxn>
                <a:cxn ang="0">
                  <a:pos x="csX2" y="csY2"/>
                </a:cxn>
                <a:cxn ang="0">
                  <a:pos x="csX3" y="csY3"/>
                </a:cxn>
                <a:cxn ang="0">
                  <a:pos x="csX4" y="csY4"/>
                </a:cxn>
              </a:cxnLst>
              <a:rect l="l" t="t" r="r" b="b"/>
              <a:pathLst>
                <a:path w="2563708" h="420885">
                  <a:moveTo>
                    <a:pt x="0" y="0"/>
                  </a:moveTo>
                  <a:lnTo>
                    <a:pt x="2563708" y="0"/>
                  </a:lnTo>
                  <a:lnTo>
                    <a:pt x="2563708" y="420885"/>
                  </a:lnTo>
                  <a:lnTo>
                    <a:pt x="0" y="4208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37566" bIns="0" numCol="1" spcCol="1270" anchor="t" anchorCtr="0">
              <a:noAutofit/>
            </a:bodyPr>
            <a:lstStyle/>
            <a:p>
              <a:pPr algn="r" defTabSz="853440">
                <a:lnSpc>
                  <a:spcPct val="90000"/>
                </a:lnSpc>
                <a:spcBef>
                  <a:spcPct val="0"/>
                </a:spcBef>
                <a:spcAft>
                  <a:spcPct val="35000"/>
                </a:spcAft>
              </a:pPr>
              <a:endParaRPr lang="en-US" sz="1920"/>
            </a:p>
          </p:txBody>
        </p:sp>
        <p:sp>
          <p:nvSpPr>
            <p:cNvPr id="8" name="Rectangle 7">
              <a:extLst>
                <a:ext uri="{FF2B5EF4-FFF2-40B4-BE49-F238E27FC236}">
                  <a16:creationId xmlns:a16="http://schemas.microsoft.com/office/drawing/2014/main" id="{7FC67CA8-CB56-C268-13AA-A83CCFE0F884}"/>
                </a:ext>
              </a:extLst>
            </p:cNvPr>
            <p:cNvSpPr/>
            <p:nvPr/>
          </p:nvSpPr>
          <p:spPr>
            <a:xfrm>
              <a:off x="821538" y="1383369"/>
              <a:ext cx="2068908" cy="3030590"/>
            </a:xfrm>
            <a:prstGeom prst="rect">
              <a:avLst/>
            </a:prstGeom>
            <a:no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sz="1152"/>
            </a:p>
          </p:txBody>
        </p:sp>
        <p:sp>
          <p:nvSpPr>
            <p:cNvPr id="9" name="Freeform: Shape 8">
              <a:extLst>
                <a:ext uri="{FF2B5EF4-FFF2-40B4-BE49-F238E27FC236}">
                  <a16:creationId xmlns:a16="http://schemas.microsoft.com/office/drawing/2014/main" id="{0E79E90E-AB87-D8F3-D68E-144636E62684}"/>
                </a:ext>
              </a:extLst>
            </p:cNvPr>
            <p:cNvSpPr/>
            <p:nvPr/>
          </p:nvSpPr>
          <p:spPr>
            <a:xfrm rot="16200000">
              <a:off x="2056860" y="3278967"/>
              <a:ext cx="2563708" cy="420885"/>
            </a:xfrm>
            <a:custGeom>
              <a:avLst/>
              <a:gdLst>
                <a:gd name="csX0" fmla="*/ 0 w 2563708"/>
                <a:gd name="csY0" fmla="*/ 0 h 420885"/>
                <a:gd name="csX1" fmla="*/ 2563708 w 2563708"/>
                <a:gd name="csY1" fmla="*/ 0 h 420885"/>
                <a:gd name="csX2" fmla="*/ 2563708 w 2563708"/>
                <a:gd name="csY2" fmla="*/ 420885 h 420885"/>
                <a:gd name="csX3" fmla="*/ 0 w 2563708"/>
                <a:gd name="csY3" fmla="*/ 420885 h 420885"/>
                <a:gd name="csX4" fmla="*/ 0 w 2563708"/>
                <a:gd name="csY4" fmla="*/ 0 h 420885"/>
              </a:gdLst>
              <a:ahLst/>
              <a:cxnLst>
                <a:cxn ang="0">
                  <a:pos x="csX0" y="csY0"/>
                </a:cxn>
                <a:cxn ang="0">
                  <a:pos x="csX1" y="csY1"/>
                </a:cxn>
                <a:cxn ang="0">
                  <a:pos x="csX2" y="csY2"/>
                </a:cxn>
                <a:cxn ang="0">
                  <a:pos x="csX3" y="csY3"/>
                </a:cxn>
                <a:cxn ang="0">
                  <a:pos x="csX4" y="csY4"/>
                </a:cxn>
              </a:cxnLst>
              <a:rect l="l" t="t" r="r" b="b"/>
              <a:pathLst>
                <a:path w="2563708" h="420885">
                  <a:moveTo>
                    <a:pt x="0" y="0"/>
                  </a:moveTo>
                  <a:lnTo>
                    <a:pt x="2563708" y="0"/>
                  </a:lnTo>
                  <a:lnTo>
                    <a:pt x="2563708" y="420885"/>
                  </a:lnTo>
                  <a:lnTo>
                    <a:pt x="0" y="4208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37566" bIns="0" numCol="1" spcCol="1270" anchor="t" anchorCtr="0">
              <a:noAutofit/>
            </a:bodyPr>
            <a:lstStyle/>
            <a:p>
              <a:pPr algn="r" defTabSz="853440">
                <a:lnSpc>
                  <a:spcPct val="90000"/>
                </a:lnSpc>
                <a:spcBef>
                  <a:spcPct val="0"/>
                </a:spcBef>
                <a:spcAft>
                  <a:spcPct val="35000"/>
                </a:spcAft>
              </a:pPr>
              <a:endParaRPr lang="en-US" sz="1920" dirty="0"/>
            </a:p>
          </p:txBody>
        </p:sp>
        <p:sp>
          <p:nvSpPr>
            <p:cNvPr id="10" name="Freeform: Shape 9">
              <a:extLst>
                <a:ext uri="{FF2B5EF4-FFF2-40B4-BE49-F238E27FC236}">
                  <a16:creationId xmlns:a16="http://schemas.microsoft.com/office/drawing/2014/main" id="{092A8DA4-08A3-81A8-392E-9BE6C2B0FA1E}"/>
                </a:ext>
              </a:extLst>
            </p:cNvPr>
            <p:cNvSpPr/>
            <p:nvPr/>
          </p:nvSpPr>
          <p:spPr>
            <a:xfrm>
              <a:off x="3754400" y="1646642"/>
              <a:ext cx="2096456" cy="2563708"/>
            </a:xfrm>
            <a:custGeom>
              <a:avLst/>
              <a:gdLst>
                <a:gd name="csX0" fmla="*/ 0 w 2096456"/>
                <a:gd name="csY0" fmla="*/ 0 h 2563708"/>
                <a:gd name="csX1" fmla="*/ 2096456 w 2096456"/>
                <a:gd name="csY1" fmla="*/ 0 h 2563708"/>
                <a:gd name="csX2" fmla="*/ 2096456 w 2096456"/>
                <a:gd name="csY2" fmla="*/ 2563708 h 2563708"/>
                <a:gd name="csX3" fmla="*/ 0 w 2096456"/>
                <a:gd name="csY3" fmla="*/ 2563708 h 2563708"/>
                <a:gd name="csX4" fmla="*/ 0 w 2096456"/>
                <a:gd name="csY4" fmla="*/ 0 h 2563708"/>
              </a:gdLst>
              <a:ahLst/>
              <a:cxnLst>
                <a:cxn ang="0">
                  <a:pos x="csX0" y="csY0"/>
                </a:cxn>
                <a:cxn ang="0">
                  <a:pos x="csX1" y="csY1"/>
                </a:cxn>
                <a:cxn ang="0">
                  <a:pos x="csX2" y="csY2"/>
                </a:cxn>
                <a:cxn ang="0">
                  <a:pos x="csX3" y="csY3"/>
                </a:cxn>
                <a:cxn ang="0">
                  <a:pos x="csX4" y="csY4"/>
                </a:cxn>
              </a:cxnLst>
              <a:rect l="l" t="t" r="r" b="b"/>
              <a:pathLst>
                <a:path w="2096456" h="2563708">
                  <a:moveTo>
                    <a:pt x="0" y="0"/>
                  </a:moveTo>
                  <a:lnTo>
                    <a:pt x="2096456" y="0"/>
                  </a:lnTo>
                  <a:lnTo>
                    <a:pt x="2096456" y="2563708"/>
                  </a:lnTo>
                  <a:lnTo>
                    <a:pt x="0" y="25637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1930" tIns="237566" rIns="81930" bIns="81930" numCol="1" spcCol="1270" anchor="t" anchorCtr="0">
              <a:noAutofit/>
            </a:bodyPr>
            <a:lstStyle/>
            <a:p>
              <a:pPr marL="146304" lvl="1" indent="-146304" defTabSz="768096">
                <a:lnSpc>
                  <a:spcPct val="90000"/>
                </a:lnSpc>
                <a:spcBef>
                  <a:spcPct val="0"/>
                </a:spcBef>
                <a:spcAft>
                  <a:spcPct val="15000"/>
                </a:spcAft>
                <a:buChar char="•"/>
              </a:pPr>
              <a:endParaRPr lang="en-US" sz="1728" dirty="0"/>
            </a:p>
          </p:txBody>
        </p:sp>
        <p:sp>
          <p:nvSpPr>
            <p:cNvPr id="12" name="Freeform: Shape 11">
              <a:extLst>
                <a:ext uri="{FF2B5EF4-FFF2-40B4-BE49-F238E27FC236}">
                  <a16:creationId xmlns:a16="http://schemas.microsoft.com/office/drawing/2014/main" id="{4A8BD361-EFAC-243B-55E2-5AA271B469F9}"/>
                </a:ext>
              </a:extLst>
            </p:cNvPr>
            <p:cNvSpPr/>
            <p:nvPr/>
          </p:nvSpPr>
          <p:spPr>
            <a:xfrm rot="16200000">
              <a:off x="5133708" y="3278967"/>
              <a:ext cx="2563708" cy="420885"/>
            </a:xfrm>
            <a:custGeom>
              <a:avLst/>
              <a:gdLst>
                <a:gd name="csX0" fmla="*/ 0 w 2563708"/>
                <a:gd name="csY0" fmla="*/ 0 h 420885"/>
                <a:gd name="csX1" fmla="*/ 2563708 w 2563708"/>
                <a:gd name="csY1" fmla="*/ 0 h 420885"/>
                <a:gd name="csX2" fmla="*/ 2563708 w 2563708"/>
                <a:gd name="csY2" fmla="*/ 420885 h 420885"/>
                <a:gd name="csX3" fmla="*/ 0 w 2563708"/>
                <a:gd name="csY3" fmla="*/ 420885 h 420885"/>
                <a:gd name="csX4" fmla="*/ 0 w 2563708"/>
                <a:gd name="csY4" fmla="*/ 0 h 420885"/>
              </a:gdLst>
              <a:ahLst/>
              <a:cxnLst>
                <a:cxn ang="0">
                  <a:pos x="csX0" y="csY0"/>
                </a:cxn>
                <a:cxn ang="0">
                  <a:pos x="csX1" y="csY1"/>
                </a:cxn>
                <a:cxn ang="0">
                  <a:pos x="csX2" y="csY2"/>
                </a:cxn>
                <a:cxn ang="0">
                  <a:pos x="csX3" y="csY3"/>
                </a:cxn>
                <a:cxn ang="0">
                  <a:pos x="csX4" y="csY4"/>
                </a:cxn>
              </a:cxnLst>
              <a:rect l="l" t="t" r="r" b="b"/>
              <a:pathLst>
                <a:path w="2563708" h="420885">
                  <a:moveTo>
                    <a:pt x="0" y="0"/>
                  </a:moveTo>
                  <a:lnTo>
                    <a:pt x="2563708" y="0"/>
                  </a:lnTo>
                  <a:lnTo>
                    <a:pt x="2563708" y="420885"/>
                  </a:lnTo>
                  <a:lnTo>
                    <a:pt x="0" y="4208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37566" bIns="0" numCol="1" spcCol="1270" anchor="t" anchorCtr="0">
              <a:noAutofit/>
            </a:bodyPr>
            <a:lstStyle/>
            <a:p>
              <a:pPr algn="r" defTabSz="853440">
                <a:lnSpc>
                  <a:spcPct val="90000"/>
                </a:lnSpc>
                <a:spcBef>
                  <a:spcPct val="0"/>
                </a:spcBef>
                <a:spcAft>
                  <a:spcPct val="35000"/>
                </a:spcAft>
              </a:pPr>
              <a:endParaRPr lang="en-US" sz="1920"/>
            </a:p>
          </p:txBody>
        </p:sp>
        <p:sp>
          <p:nvSpPr>
            <p:cNvPr id="13" name="Freeform: Shape 12">
              <a:extLst>
                <a:ext uri="{FF2B5EF4-FFF2-40B4-BE49-F238E27FC236}">
                  <a16:creationId xmlns:a16="http://schemas.microsoft.com/office/drawing/2014/main" id="{E3E6DF65-52E4-6E8F-B8D8-239FFA1BCDC6}"/>
                </a:ext>
              </a:extLst>
            </p:cNvPr>
            <p:cNvSpPr/>
            <p:nvPr/>
          </p:nvSpPr>
          <p:spPr>
            <a:xfrm>
              <a:off x="6540756" y="1679856"/>
              <a:ext cx="2441088" cy="2734101"/>
            </a:xfrm>
            <a:custGeom>
              <a:avLst/>
              <a:gdLst>
                <a:gd name="csX0" fmla="*/ 0 w 2096456"/>
                <a:gd name="csY0" fmla="*/ 0 h 2563708"/>
                <a:gd name="csX1" fmla="*/ 2096456 w 2096456"/>
                <a:gd name="csY1" fmla="*/ 0 h 2563708"/>
                <a:gd name="csX2" fmla="*/ 2096456 w 2096456"/>
                <a:gd name="csY2" fmla="*/ 2563708 h 2563708"/>
                <a:gd name="csX3" fmla="*/ 0 w 2096456"/>
                <a:gd name="csY3" fmla="*/ 2563708 h 2563708"/>
                <a:gd name="csX4" fmla="*/ 0 w 2096456"/>
                <a:gd name="csY4" fmla="*/ 0 h 2563708"/>
              </a:gdLst>
              <a:ahLst/>
              <a:cxnLst>
                <a:cxn ang="0">
                  <a:pos x="csX0" y="csY0"/>
                </a:cxn>
                <a:cxn ang="0">
                  <a:pos x="csX1" y="csY1"/>
                </a:cxn>
                <a:cxn ang="0">
                  <a:pos x="csX2" y="csY2"/>
                </a:cxn>
                <a:cxn ang="0">
                  <a:pos x="csX3" y="csY3"/>
                </a:cxn>
                <a:cxn ang="0">
                  <a:pos x="csX4" y="csY4"/>
                </a:cxn>
              </a:cxnLst>
              <a:rect l="l" t="t" r="r" b="b"/>
              <a:pathLst>
                <a:path w="2096456" h="2563708">
                  <a:moveTo>
                    <a:pt x="0" y="0"/>
                  </a:moveTo>
                  <a:lnTo>
                    <a:pt x="2096456" y="0"/>
                  </a:lnTo>
                  <a:lnTo>
                    <a:pt x="2096456" y="2563708"/>
                  </a:lnTo>
                  <a:lnTo>
                    <a:pt x="0" y="2563708"/>
                  </a:lnTo>
                  <a:lnTo>
                    <a:pt x="0" y="0"/>
                  </a:lnTo>
                  <a:close/>
                </a:path>
              </a:pathLst>
            </a:custGeom>
            <a:pattFill prst="pct50">
              <a:fgClr>
                <a:srgbClr val="7030A0"/>
              </a:fgClr>
              <a:bgClr>
                <a:schemeClr val="bg1"/>
              </a:bgClr>
            </a:patt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1930" tIns="237566" rIns="81930" bIns="81930" numCol="1" spcCol="1270" anchor="t" anchorCtr="0">
              <a:noAutofit/>
            </a:bodyPr>
            <a:lstStyle/>
            <a:p>
              <a:pPr marL="0" lvl="1" algn="ctr" defTabSz="512064">
                <a:lnSpc>
                  <a:spcPct val="90000"/>
                </a:lnSpc>
                <a:spcBef>
                  <a:spcPct val="0"/>
                </a:spcBef>
                <a:spcAft>
                  <a:spcPct val="15000"/>
                </a:spcAft>
              </a:pPr>
              <a:r>
                <a:rPr lang="en-US" sz="1152" dirty="0">
                  <a:solidFill>
                    <a:srgbClr val="FFFFFF"/>
                  </a:solidFill>
                  <a:latin typeface="Arial Black" panose="020B0A04020102020204" pitchFamily="34" charset="0"/>
                </a:rPr>
                <a:t>Customer care line should remain active and reachable for customers.</a:t>
              </a:r>
            </a:p>
            <a:p>
              <a:pPr marL="182880" lvl="1" indent="-182880" defTabSz="853440">
                <a:lnSpc>
                  <a:spcPct val="90000"/>
                </a:lnSpc>
                <a:spcBef>
                  <a:spcPct val="0"/>
                </a:spcBef>
                <a:spcAft>
                  <a:spcPct val="15000"/>
                </a:spcAft>
                <a:buChar char="•"/>
              </a:pPr>
              <a:endParaRPr lang="en-US" sz="1920" dirty="0"/>
            </a:p>
          </p:txBody>
        </p:sp>
        <p:sp>
          <p:nvSpPr>
            <p:cNvPr id="14" name="Rectangle 13">
              <a:extLst>
                <a:ext uri="{FF2B5EF4-FFF2-40B4-BE49-F238E27FC236}">
                  <a16:creationId xmlns:a16="http://schemas.microsoft.com/office/drawing/2014/main" id="{2251168C-3650-ABB7-03F2-B506E3EEE418}"/>
                </a:ext>
              </a:extLst>
            </p:cNvPr>
            <p:cNvSpPr/>
            <p:nvPr/>
          </p:nvSpPr>
          <p:spPr>
            <a:xfrm>
              <a:off x="3610528" y="1679856"/>
              <a:ext cx="2424347" cy="2734101"/>
            </a:xfrm>
            <a:prstGeom prst="rect">
              <a:avLst/>
            </a:prstGeom>
            <a:pattFill prst="pct50">
              <a:fgClr>
                <a:srgbClr val="92D050"/>
              </a:fgClr>
              <a:bgClr>
                <a:schemeClr val="bg1"/>
              </a:bgClr>
            </a:patt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sz="1152" b="1" dirty="0">
                <a:solidFill>
                  <a:srgbClr val="FFFFFF"/>
                </a:solidFill>
                <a:latin typeface="Arial Black" panose="020B0A04020102020204" pitchFamily="34" charset="0"/>
              </a:endParaRPr>
            </a:p>
            <a:p>
              <a:pPr algn="ctr"/>
              <a:r>
                <a:rPr lang="en-US" sz="1152" dirty="0">
                  <a:solidFill>
                    <a:srgbClr val="FFFFFF"/>
                  </a:solidFill>
                  <a:latin typeface="Arial Black" panose="020B0A04020102020204" pitchFamily="34" charset="0"/>
                </a:rPr>
                <a:t>The delivery promptness should be improved upon to ensure that products are delivered in time.</a:t>
              </a:r>
            </a:p>
            <a:p>
              <a:endParaRPr lang="en-US" sz="1152" dirty="0"/>
            </a:p>
          </p:txBody>
        </p:sp>
      </p:grpSp>
      <p:sp>
        <p:nvSpPr>
          <p:cNvPr id="16" name="TextBox 15">
            <a:extLst>
              <a:ext uri="{FF2B5EF4-FFF2-40B4-BE49-F238E27FC236}">
                <a16:creationId xmlns:a16="http://schemas.microsoft.com/office/drawing/2014/main" id="{30D44A3E-C8B3-6EBE-639D-7821D9A73B5C}"/>
              </a:ext>
            </a:extLst>
          </p:cNvPr>
          <p:cNvSpPr txBox="1"/>
          <p:nvPr/>
        </p:nvSpPr>
        <p:spPr>
          <a:xfrm>
            <a:off x="991232" y="1622731"/>
            <a:ext cx="1629090" cy="1741502"/>
          </a:xfrm>
          <a:prstGeom prst="rect">
            <a:avLst/>
          </a:prstGeom>
          <a:pattFill prst="pct50">
            <a:fgClr>
              <a:srgbClr val="FFC000"/>
            </a:fgClr>
            <a:bgClr>
              <a:schemeClr val="bg1"/>
            </a:bgClr>
          </a:pattFill>
        </p:spPr>
        <p:txBody>
          <a:bodyPr wrap="square">
            <a:spAutoFit/>
          </a:bodyPr>
          <a:lstStyle/>
          <a:p>
            <a:pPr marL="292608" lvl="2" defTabSz="512064">
              <a:lnSpc>
                <a:spcPct val="90000"/>
              </a:lnSpc>
              <a:spcBef>
                <a:spcPct val="0"/>
              </a:spcBef>
              <a:spcAft>
                <a:spcPct val="15000"/>
              </a:spcAft>
            </a:pPr>
            <a:endParaRPr lang="en-US" sz="1152" b="1" dirty="0">
              <a:solidFill>
                <a:srgbClr val="FFFFFF"/>
              </a:solidFill>
              <a:latin typeface="Arial Black" panose="020B0A04020102020204" pitchFamily="34" charset="0"/>
            </a:endParaRPr>
          </a:p>
          <a:p>
            <a:pPr marL="292608" lvl="2" defTabSz="512064">
              <a:lnSpc>
                <a:spcPct val="90000"/>
              </a:lnSpc>
              <a:spcBef>
                <a:spcPct val="0"/>
              </a:spcBef>
              <a:spcAft>
                <a:spcPct val="15000"/>
              </a:spcAft>
            </a:pPr>
            <a:r>
              <a:rPr lang="en-US" sz="1152" dirty="0">
                <a:solidFill>
                  <a:srgbClr val="FFFFFF"/>
                </a:solidFill>
                <a:latin typeface="Arial Black" panose="020B0A04020102020204" pitchFamily="34" charset="0"/>
              </a:rPr>
              <a:t>The quality of products should be improved upon so that customers will be satisfied.</a:t>
            </a:r>
          </a:p>
          <a:p>
            <a:pPr marL="292608" lvl="2" defTabSz="512064">
              <a:lnSpc>
                <a:spcPct val="90000"/>
              </a:lnSpc>
              <a:spcBef>
                <a:spcPct val="0"/>
              </a:spcBef>
              <a:spcAft>
                <a:spcPct val="15000"/>
              </a:spcAft>
            </a:pPr>
            <a:endParaRPr lang="en-US" sz="1152" b="1"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val="4005562883"/>
      </p:ext>
    </p:extLst>
  </p:cSld>
  <p:clrMapOvr>
    <a:masterClrMapping/>
  </p:clrMapOvr>
</p:sld>
</file>

<file path=ppt/theme/theme1.xml><?xml version="1.0" encoding="utf-8"?>
<a:theme xmlns:a="http://schemas.openxmlformats.org/drawingml/2006/main" name="Archway">
  <a:themeElements>
    <a:clrScheme name="Custom 1">
      <a:dk1>
        <a:srgbClr val="008AF2"/>
      </a:dk1>
      <a:lt1>
        <a:srgbClr val="008AF2"/>
      </a:lt1>
      <a:dk2>
        <a:srgbClr val="008AF2"/>
      </a:dk2>
      <a:lt2>
        <a:srgbClr val="008AF2"/>
      </a:lt2>
      <a:accent1>
        <a:srgbClr val="008AF2"/>
      </a:accent1>
      <a:accent2>
        <a:srgbClr val="008AF2"/>
      </a:accent2>
      <a:accent3>
        <a:srgbClr val="008AF2"/>
      </a:accent3>
      <a:accent4>
        <a:srgbClr val="008AF2"/>
      </a:accent4>
      <a:accent5>
        <a:srgbClr val="008AF2"/>
      </a:accent5>
      <a:accent6>
        <a:srgbClr val="008AF2"/>
      </a:accent6>
      <a:hlink>
        <a:srgbClr val="008AF2"/>
      </a:hlink>
      <a:folHlink>
        <a:srgbClr val="008AF2"/>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nalysis of Nova Tech Electronics Limited" id="{8BF29AC5-9508-4EAB-8381-C09A65B93E46}" vid="{B0769CAE-D627-496A-8EFA-5F3C88D605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Customer Analysis of Nova Tech Electronics Limited</Template>
  <TotalTime>172</TotalTime>
  <Words>373</Words>
  <Application>Microsoft Office PowerPoint</Application>
  <PresentationFormat>Custom</PresentationFormat>
  <Paragraphs>55</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Aptos</vt:lpstr>
      <vt:lpstr>Aptos ExtraBold</vt:lpstr>
      <vt:lpstr>Arial</vt:lpstr>
      <vt:lpstr>Arial Black</vt:lpstr>
      <vt:lpstr>Calibri</vt:lpstr>
      <vt:lpstr>Goudy Old Style</vt:lpstr>
      <vt:lpstr>Archway</vt:lpstr>
      <vt:lpstr>Customer Analysis of Nova Tech Electronics Limited</vt:lpstr>
      <vt:lpstr>This section present an analysis of customers of Nova Tech Electronic Limited. The analysis focuses on knowing who our customers are, their satisfaction rate, preferred shipment mode, interaction with customer care, and total cost of product bought by customers.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cp:revision>
  <dcterms:created xsi:type="dcterms:W3CDTF">2026-10-10T09:28:53Z</dcterms:created>
  <dcterms:modified xsi:type="dcterms:W3CDTF">2026-10-10T12:21:44Z</dcterms:modified>
</cp:coreProperties>
</file>